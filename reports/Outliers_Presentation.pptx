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Bold" charset="1" panose="00000800000000000000"/>
      <p:regular r:id="rId12"/>
    </p:embeddedFont>
    <p:embeddedFont>
      <p:font typeface="HK Grotesk Medium" charset="1" panose="00000600000000000000"/>
      <p:regular r:id="rId13"/>
    </p:embeddedFont>
    <p:embeddedFont>
      <p:font typeface="HK Grotesk" charset="1" panose="00000500000000000000"/>
      <p:regular r:id="rId14"/>
    </p:embeddedFont>
    <p:embeddedFont>
      <p:font typeface="TT Hoves Bold" charset="1" panose="02000003020000060003"/>
      <p:regular r:id="rId15"/>
    </p:embeddedFont>
    <p:embeddedFont>
      <p:font typeface="TT Hoves" charset="1" panose="02000003020000060003"/>
      <p:regular r:id="rId16"/>
    </p:embeddedFon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16" Target="../media/image34.png" Type="http://schemas.openxmlformats.org/officeDocument/2006/relationships/image"/><Relationship Id="rId17" Target="../media/image35.svg" Type="http://schemas.openxmlformats.org/officeDocument/2006/relationships/image"/><Relationship Id="rId18" Target="../media/image36.png" Type="http://schemas.openxmlformats.org/officeDocument/2006/relationships/image"/><Relationship Id="rId19" Target="../media/image37.svg" Type="http://schemas.openxmlformats.org/officeDocument/2006/relationships/image"/><Relationship Id="rId2" Target="../media/image1.png" Type="http://schemas.openxmlformats.org/officeDocument/2006/relationships/image"/><Relationship Id="rId20" Target="../media/image38.png" Type="http://schemas.openxmlformats.org/officeDocument/2006/relationships/image"/><Relationship Id="rId21" Target="../media/image39.svg" Type="http://schemas.openxmlformats.org/officeDocument/2006/relationships/image"/><Relationship Id="rId22" Target="../media/image40.png" Type="http://schemas.openxmlformats.org/officeDocument/2006/relationships/image"/><Relationship Id="rId23" Target="../media/image41.svg" Type="http://schemas.openxmlformats.org/officeDocument/2006/relationships/image"/><Relationship Id="rId24" Target="../media/image42.png" Type="http://schemas.openxmlformats.org/officeDocument/2006/relationships/image"/><Relationship Id="rId25" Target="../media/image43.svg" Type="http://schemas.openxmlformats.org/officeDocument/2006/relationships/image"/><Relationship Id="rId26" Target="../media/image44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29083" y="7584200"/>
            <a:ext cx="980143" cy="98014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9211" t="0" r="-4921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56279" y="2399542"/>
            <a:ext cx="15052946" cy="292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0"/>
              </a:lnSpc>
            </a:pPr>
            <a:r>
              <a:rPr lang="en-US" b="true" sz="1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Chemical En</a:t>
            </a:r>
            <a:r>
              <a:rPr lang="en-US" b="true" sz="1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gineering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69355" y="5746739"/>
            <a:ext cx="14149799" cy="86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 spc="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</a:t>
            </a:r>
            <a:r>
              <a:rPr lang="en-US" b="true" sz="2500" spc="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EYOND BLACK BOX ML: RECOVERING GOVERNING EQUATIONS TO PREDICT SERIES PARALLEL REACTOR YIELD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6279" y="1514352"/>
            <a:ext cx="275421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Fugacity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71060" y="1514352"/>
            <a:ext cx="293816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ML</a:t>
            </a:r>
            <a:r>
              <a:rPr lang="en-US" b="true" sz="33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Hackathon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86008" y="7037804"/>
            <a:ext cx="9916494" cy="152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b="true" sz="2900" spc="232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TEAM NAME : OUTLIERS</a:t>
            </a:r>
          </a:p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b="true" sz="2900" spc="232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TEAM MEMBERS: ASHISH (24CY10012)</a:t>
            </a:r>
          </a:p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b="true" sz="2900" spc="232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INDIAN INSTITUTE OF TECHNOLOGY KHARAGPUR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98906" y="1183504"/>
            <a:ext cx="16101585" cy="8263234"/>
            <a:chOff x="0" y="0"/>
            <a:chExt cx="3987829" cy="20465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46529"/>
            </a:xfrm>
            <a:custGeom>
              <a:avLst/>
              <a:gdLst/>
              <a:ahLst/>
              <a:cxnLst/>
              <a:rect r="r" b="b" t="t" l="l"/>
              <a:pathLst>
                <a:path h="2046529" w="3987829">
                  <a:moveTo>
                    <a:pt x="9616" y="0"/>
                  </a:moveTo>
                  <a:lnTo>
                    <a:pt x="3978213" y="0"/>
                  </a:lnTo>
                  <a:cubicBezTo>
                    <a:pt x="3980764" y="0"/>
                    <a:pt x="3983210" y="1013"/>
                    <a:pt x="3985013" y="2817"/>
                  </a:cubicBezTo>
                  <a:cubicBezTo>
                    <a:pt x="3986816" y="4620"/>
                    <a:pt x="3987829" y="7066"/>
                    <a:pt x="3987829" y="9616"/>
                  </a:cubicBezTo>
                  <a:lnTo>
                    <a:pt x="3987829" y="2036913"/>
                  </a:lnTo>
                  <a:cubicBezTo>
                    <a:pt x="3987829" y="2039463"/>
                    <a:pt x="3986816" y="2041909"/>
                    <a:pt x="3985013" y="2043713"/>
                  </a:cubicBezTo>
                  <a:cubicBezTo>
                    <a:pt x="3983210" y="2045516"/>
                    <a:pt x="3980764" y="2046529"/>
                    <a:pt x="3978213" y="2046529"/>
                  </a:cubicBezTo>
                  <a:lnTo>
                    <a:pt x="9616" y="2046529"/>
                  </a:lnTo>
                  <a:cubicBezTo>
                    <a:pt x="7066" y="2046529"/>
                    <a:pt x="4620" y="2045516"/>
                    <a:pt x="2817" y="2043713"/>
                  </a:cubicBezTo>
                  <a:cubicBezTo>
                    <a:pt x="1013" y="2041909"/>
                    <a:pt x="0" y="2039463"/>
                    <a:pt x="0" y="2036913"/>
                  </a:cubicBezTo>
                  <a:lnTo>
                    <a:pt x="0" y="9616"/>
                  </a:lnTo>
                  <a:cubicBezTo>
                    <a:pt x="0" y="7066"/>
                    <a:pt x="1013" y="4620"/>
                    <a:pt x="2817" y="2817"/>
                  </a:cubicBezTo>
                  <a:cubicBezTo>
                    <a:pt x="4620" y="1013"/>
                    <a:pt x="7066" y="0"/>
                    <a:pt x="961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8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8906" y="525398"/>
            <a:ext cx="16964877" cy="8547312"/>
            <a:chOff x="0" y="0"/>
            <a:chExt cx="4201638" cy="21168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116886"/>
            </a:xfrm>
            <a:custGeom>
              <a:avLst/>
              <a:gdLst/>
              <a:ahLst/>
              <a:cxnLst/>
              <a:rect r="r" b="b" t="t" l="l"/>
              <a:pathLst>
                <a:path h="2116886" w="4201638">
                  <a:moveTo>
                    <a:pt x="9127" y="0"/>
                  </a:moveTo>
                  <a:lnTo>
                    <a:pt x="4192511" y="0"/>
                  </a:lnTo>
                  <a:cubicBezTo>
                    <a:pt x="4197552" y="0"/>
                    <a:pt x="4201638" y="4086"/>
                    <a:pt x="4201638" y="9127"/>
                  </a:cubicBezTo>
                  <a:lnTo>
                    <a:pt x="4201638" y="2107759"/>
                  </a:lnTo>
                  <a:cubicBezTo>
                    <a:pt x="4201638" y="2112800"/>
                    <a:pt x="4197552" y="2116886"/>
                    <a:pt x="4192511" y="2116886"/>
                  </a:cubicBezTo>
                  <a:lnTo>
                    <a:pt x="9127" y="2116886"/>
                  </a:lnTo>
                  <a:cubicBezTo>
                    <a:pt x="6706" y="2116886"/>
                    <a:pt x="4385" y="2115925"/>
                    <a:pt x="2673" y="2114213"/>
                  </a:cubicBezTo>
                  <a:cubicBezTo>
                    <a:pt x="962" y="2112501"/>
                    <a:pt x="0" y="2110180"/>
                    <a:pt x="0" y="2107759"/>
                  </a:cubicBezTo>
                  <a:lnTo>
                    <a:pt x="0" y="9127"/>
                  </a:lnTo>
                  <a:cubicBezTo>
                    <a:pt x="0" y="4086"/>
                    <a:pt x="4086" y="0"/>
                    <a:pt x="9127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54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12626" y="5699153"/>
            <a:ext cx="3346674" cy="2342553"/>
            <a:chOff x="0" y="0"/>
            <a:chExt cx="4462232" cy="312340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462232" cy="3123404"/>
              <a:chOff x="0" y="0"/>
              <a:chExt cx="1485391" cy="103972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85391" cy="1039721"/>
              </a:xfrm>
              <a:custGeom>
                <a:avLst/>
                <a:gdLst/>
                <a:ahLst/>
                <a:cxnLst/>
                <a:rect r="r" b="b" t="t" l="l"/>
                <a:pathLst>
                  <a:path h="1039721" w="1485391">
                    <a:moveTo>
                      <a:pt x="35745" y="0"/>
                    </a:moveTo>
                    <a:lnTo>
                      <a:pt x="1449646" y="0"/>
                    </a:lnTo>
                    <a:cubicBezTo>
                      <a:pt x="1459127" y="0"/>
                      <a:pt x="1468218" y="3766"/>
                      <a:pt x="1474922" y="10469"/>
                    </a:cubicBezTo>
                    <a:cubicBezTo>
                      <a:pt x="1481625" y="17173"/>
                      <a:pt x="1485391" y="26265"/>
                      <a:pt x="1485391" y="35745"/>
                    </a:cubicBezTo>
                    <a:lnTo>
                      <a:pt x="1485391" y="1003976"/>
                    </a:lnTo>
                    <a:cubicBezTo>
                      <a:pt x="1485391" y="1013456"/>
                      <a:pt x="1481625" y="1022548"/>
                      <a:pt x="1474922" y="1029252"/>
                    </a:cubicBezTo>
                    <a:cubicBezTo>
                      <a:pt x="1468218" y="1035955"/>
                      <a:pt x="1459127" y="1039721"/>
                      <a:pt x="1449646" y="1039721"/>
                    </a:cubicBezTo>
                    <a:lnTo>
                      <a:pt x="35745" y="1039721"/>
                    </a:lnTo>
                    <a:cubicBezTo>
                      <a:pt x="26265" y="1039721"/>
                      <a:pt x="17173" y="1035955"/>
                      <a:pt x="10469" y="1029252"/>
                    </a:cubicBezTo>
                    <a:cubicBezTo>
                      <a:pt x="3766" y="1022548"/>
                      <a:pt x="0" y="1013456"/>
                      <a:pt x="0" y="1003976"/>
                    </a:cubicBezTo>
                    <a:lnTo>
                      <a:pt x="0" y="35745"/>
                    </a:lnTo>
                    <a:cubicBezTo>
                      <a:pt x="0" y="26265"/>
                      <a:pt x="3766" y="17173"/>
                      <a:pt x="10469" y="10469"/>
                    </a:cubicBezTo>
                    <a:cubicBezTo>
                      <a:pt x="17173" y="3766"/>
                      <a:pt x="26265" y="0"/>
                      <a:pt x="35745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485391" cy="1077821"/>
              </a:xfrm>
              <a:prstGeom prst="rect">
                <a:avLst/>
              </a:prstGeom>
            </p:spPr>
            <p:txBody>
              <a:bodyPr anchor="ctr" rtlCol="false" tIns="39018" lIns="39018" bIns="39018" rIns="3901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7779" y="854582"/>
              <a:ext cx="4386674" cy="19395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7"/>
                </a:lnSpc>
              </a:pPr>
              <a:r>
                <a:rPr lang="en-US" sz="1698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Bu</a:t>
              </a:r>
              <a:r>
                <a:rPr lang="en-US" sz="1698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ild a predictive data driven surrogate model to instantly and accurately forecast the overall yield percentage of Product B at the reactor exit.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7283" y="6607586"/>
            <a:ext cx="5715614" cy="1674668"/>
            <a:chOff x="0" y="0"/>
            <a:chExt cx="7620819" cy="22328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620819" cy="2232891"/>
              <a:chOff x="0" y="0"/>
              <a:chExt cx="1959904" cy="5742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59904" cy="574250"/>
              </a:xfrm>
              <a:custGeom>
                <a:avLst/>
                <a:gdLst/>
                <a:ahLst/>
                <a:cxnLst/>
                <a:rect r="r" b="b" t="t" l="l"/>
                <a:pathLst>
                  <a:path h="574250" w="1959904">
                    <a:moveTo>
                      <a:pt x="27090" y="0"/>
                    </a:moveTo>
                    <a:lnTo>
                      <a:pt x="1932814" y="0"/>
                    </a:lnTo>
                    <a:cubicBezTo>
                      <a:pt x="1947775" y="0"/>
                      <a:pt x="1959904" y="12129"/>
                      <a:pt x="1959904" y="27090"/>
                    </a:cubicBezTo>
                    <a:lnTo>
                      <a:pt x="1959904" y="547159"/>
                    </a:lnTo>
                    <a:cubicBezTo>
                      <a:pt x="1959904" y="554344"/>
                      <a:pt x="1957050" y="561235"/>
                      <a:pt x="1951969" y="566315"/>
                    </a:cubicBezTo>
                    <a:cubicBezTo>
                      <a:pt x="1946889" y="571396"/>
                      <a:pt x="1939998" y="574250"/>
                      <a:pt x="1932814" y="574250"/>
                    </a:cubicBezTo>
                    <a:lnTo>
                      <a:pt x="27090" y="574250"/>
                    </a:lnTo>
                    <a:cubicBezTo>
                      <a:pt x="12129" y="574250"/>
                      <a:pt x="0" y="562121"/>
                      <a:pt x="0" y="547159"/>
                    </a:cubicBezTo>
                    <a:lnTo>
                      <a:pt x="0" y="27090"/>
                    </a:lnTo>
                    <a:cubicBezTo>
                      <a:pt x="0" y="19906"/>
                      <a:pt x="2854" y="13015"/>
                      <a:pt x="7935" y="7935"/>
                    </a:cubicBezTo>
                    <a:cubicBezTo>
                      <a:pt x="13015" y="2854"/>
                      <a:pt x="19906" y="0"/>
                      <a:pt x="27090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959904" cy="612350"/>
              </a:xfrm>
              <a:prstGeom prst="rect">
                <a:avLst/>
              </a:prstGeom>
            </p:spPr>
            <p:txBody>
              <a:bodyPr anchor="ctr" rtlCol="false" tIns="39018" lIns="39018" bIns="39018" rIns="3901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21989" y="705850"/>
              <a:ext cx="7169788" cy="1352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Br</a:t>
              </a: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idging chemical engineering and computer science to give process engineers a tool for instant, real time operating setpoint adjustments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081523" y="113540"/>
              <a:ext cx="3457773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Industrial</a:t>
              </a: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Impact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35401" y="2488444"/>
            <a:ext cx="6523899" cy="1674668"/>
            <a:chOff x="0" y="0"/>
            <a:chExt cx="8698532" cy="223289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98532" cy="2232891"/>
              <a:chOff x="0" y="0"/>
              <a:chExt cx="2237068" cy="5742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237068" cy="574250"/>
              </a:xfrm>
              <a:custGeom>
                <a:avLst/>
                <a:gdLst/>
                <a:ahLst/>
                <a:cxnLst/>
                <a:rect r="r" b="b" t="t" l="l"/>
                <a:pathLst>
                  <a:path h="574250" w="2237068">
                    <a:moveTo>
                      <a:pt x="23734" y="0"/>
                    </a:moveTo>
                    <a:lnTo>
                      <a:pt x="2213334" y="0"/>
                    </a:lnTo>
                    <a:cubicBezTo>
                      <a:pt x="2226442" y="0"/>
                      <a:pt x="2237068" y="10626"/>
                      <a:pt x="2237068" y="23734"/>
                    </a:cubicBezTo>
                    <a:lnTo>
                      <a:pt x="2237068" y="550516"/>
                    </a:lnTo>
                    <a:cubicBezTo>
                      <a:pt x="2237068" y="563624"/>
                      <a:pt x="2226442" y="574250"/>
                      <a:pt x="2213334" y="574250"/>
                    </a:cubicBezTo>
                    <a:lnTo>
                      <a:pt x="23734" y="574250"/>
                    </a:lnTo>
                    <a:cubicBezTo>
                      <a:pt x="10626" y="574250"/>
                      <a:pt x="0" y="563624"/>
                      <a:pt x="0" y="550516"/>
                    </a:cubicBezTo>
                    <a:lnTo>
                      <a:pt x="0" y="23734"/>
                    </a:lnTo>
                    <a:cubicBezTo>
                      <a:pt x="0" y="10626"/>
                      <a:pt x="10626" y="0"/>
                      <a:pt x="23734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237068" cy="612350"/>
              </a:xfrm>
              <a:prstGeom prst="rect">
                <a:avLst/>
              </a:prstGeom>
            </p:spPr>
            <p:txBody>
              <a:bodyPr anchor="ctr" rtlCol="false" tIns="39018" lIns="39018" bIns="39018" rIns="3901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67524" y="705850"/>
              <a:ext cx="8183717" cy="1352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k</a:t>
              </a: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inetic and thermodynamic behaviors of the reactions create complex, non linear trade offs between flow rates, inlet concentrations, and thermal profiles. 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375885" y="113540"/>
              <a:ext cx="3946761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System</a:t>
              </a: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Complexity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67283" y="2488444"/>
            <a:ext cx="8476600" cy="1674668"/>
            <a:chOff x="0" y="0"/>
            <a:chExt cx="11302133" cy="223289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1302133" cy="2232891"/>
              <a:chOff x="0" y="0"/>
              <a:chExt cx="2906656" cy="5742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906656" cy="574250"/>
              </a:xfrm>
              <a:custGeom>
                <a:avLst/>
                <a:gdLst/>
                <a:ahLst/>
                <a:cxnLst/>
                <a:rect r="r" b="b" t="t" l="l"/>
                <a:pathLst>
                  <a:path h="574250" w="2906656">
                    <a:moveTo>
                      <a:pt x="18267" y="0"/>
                    </a:moveTo>
                    <a:lnTo>
                      <a:pt x="2888389" y="0"/>
                    </a:lnTo>
                    <a:cubicBezTo>
                      <a:pt x="2898478" y="0"/>
                      <a:pt x="2906656" y="8178"/>
                      <a:pt x="2906656" y="18267"/>
                    </a:cubicBezTo>
                    <a:lnTo>
                      <a:pt x="2906656" y="555983"/>
                    </a:lnTo>
                    <a:cubicBezTo>
                      <a:pt x="2906656" y="566071"/>
                      <a:pt x="2898478" y="574250"/>
                      <a:pt x="2888389" y="574250"/>
                    </a:cubicBezTo>
                    <a:lnTo>
                      <a:pt x="18267" y="574250"/>
                    </a:lnTo>
                    <a:cubicBezTo>
                      <a:pt x="8178" y="574250"/>
                      <a:pt x="0" y="566071"/>
                      <a:pt x="0" y="555983"/>
                    </a:cubicBezTo>
                    <a:lnTo>
                      <a:pt x="0" y="18267"/>
                    </a:lnTo>
                    <a:cubicBezTo>
                      <a:pt x="0" y="8178"/>
                      <a:pt x="8178" y="0"/>
                      <a:pt x="18267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906656" cy="612350"/>
              </a:xfrm>
              <a:prstGeom prst="rect">
                <a:avLst/>
              </a:prstGeom>
            </p:spPr>
            <p:txBody>
              <a:bodyPr anchor="ctr" rtlCol="false" tIns="39018" lIns="39018" bIns="39018" rIns="3901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77529" y="705850"/>
              <a:ext cx="10633227" cy="1352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Mod</a:t>
              </a: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ern chemical facilities rely on complex computational fluid dynamics and boundary value problem (BVP) simulations. While rigorous, these are too computationally expensive and slow for real time plant optimization.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812308" y="113540"/>
              <a:ext cx="7677517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</a:t>
              </a: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Computational Bottleneck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67283" y="4465201"/>
            <a:ext cx="5715614" cy="1674668"/>
            <a:chOff x="0" y="0"/>
            <a:chExt cx="7620819" cy="2232891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7620819" cy="2232891"/>
              <a:chOff x="0" y="0"/>
              <a:chExt cx="1959904" cy="57425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59904" cy="574250"/>
              </a:xfrm>
              <a:custGeom>
                <a:avLst/>
                <a:gdLst/>
                <a:ahLst/>
                <a:cxnLst/>
                <a:rect r="r" b="b" t="t" l="l"/>
                <a:pathLst>
                  <a:path h="574250" w="1959904">
                    <a:moveTo>
                      <a:pt x="27090" y="0"/>
                    </a:moveTo>
                    <a:lnTo>
                      <a:pt x="1932814" y="0"/>
                    </a:lnTo>
                    <a:cubicBezTo>
                      <a:pt x="1947775" y="0"/>
                      <a:pt x="1959904" y="12129"/>
                      <a:pt x="1959904" y="27090"/>
                    </a:cubicBezTo>
                    <a:lnTo>
                      <a:pt x="1959904" y="547159"/>
                    </a:lnTo>
                    <a:cubicBezTo>
                      <a:pt x="1959904" y="554344"/>
                      <a:pt x="1957050" y="561235"/>
                      <a:pt x="1951969" y="566315"/>
                    </a:cubicBezTo>
                    <a:cubicBezTo>
                      <a:pt x="1946889" y="571396"/>
                      <a:pt x="1939998" y="574250"/>
                      <a:pt x="1932814" y="574250"/>
                    </a:cubicBezTo>
                    <a:lnTo>
                      <a:pt x="27090" y="574250"/>
                    </a:lnTo>
                    <a:cubicBezTo>
                      <a:pt x="12129" y="574250"/>
                      <a:pt x="0" y="562121"/>
                      <a:pt x="0" y="547159"/>
                    </a:cubicBezTo>
                    <a:lnTo>
                      <a:pt x="0" y="27090"/>
                    </a:lnTo>
                    <a:cubicBezTo>
                      <a:pt x="0" y="19906"/>
                      <a:pt x="2854" y="13015"/>
                      <a:pt x="7935" y="7935"/>
                    </a:cubicBezTo>
                    <a:cubicBezTo>
                      <a:pt x="13015" y="2854"/>
                      <a:pt x="19906" y="0"/>
                      <a:pt x="27090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959904" cy="612350"/>
              </a:xfrm>
              <a:prstGeom prst="rect">
                <a:avLst/>
              </a:prstGeom>
            </p:spPr>
            <p:txBody>
              <a:bodyPr anchor="ctr" rtlCol="false" tIns="39018" lIns="39018" bIns="39018" rIns="39018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21989" y="705850"/>
              <a:ext cx="7169788" cy="1352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71"/>
                </a:lnSpc>
              </a:pP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</a:t>
              </a:r>
              <a:r>
                <a:rPr lang="en-US" sz="1979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cess utilizes a continuous flow, non isothermal reactor involving a highly sensitive series parallel reaction network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489362" y="94673"/>
              <a:ext cx="4835041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Physical</a:t>
              </a:r>
              <a:r>
                <a:rPr lang="en-US" b="true" sz="22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System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7421100" y="4989480"/>
            <a:ext cx="6253324" cy="2962469"/>
          </a:xfrm>
          <a:custGeom>
            <a:avLst/>
            <a:gdLst/>
            <a:ahLst/>
            <a:cxnLst/>
            <a:rect r="r" b="b" t="t" l="l"/>
            <a:pathLst>
              <a:path h="2962469" w="6253324">
                <a:moveTo>
                  <a:pt x="0" y="0"/>
                </a:moveTo>
                <a:lnTo>
                  <a:pt x="6253324" y="0"/>
                </a:lnTo>
                <a:lnTo>
                  <a:pt x="6253324" y="2962469"/>
                </a:lnTo>
                <a:lnTo>
                  <a:pt x="0" y="2962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true" rot="-4415871">
            <a:off x="11191157" y="6217825"/>
            <a:ext cx="2036978" cy="3637461"/>
          </a:xfrm>
          <a:custGeom>
            <a:avLst/>
            <a:gdLst/>
            <a:ahLst/>
            <a:cxnLst/>
            <a:rect r="r" b="b" t="t" l="l"/>
            <a:pathLst>
              <a:path h="3637461" w="2036978">
                <a:moveTo>
                  <a:pt x="0" y="3637461"/>
                </a:moveTo>
                <a:lnTo>
                  <a:pt x="2036978" y="3637461"/>
                </a:lnTo>
                <a:lnTo>
                  <a:pt x="2036978" y="0"/>
                </a:lnTo>
                <a:lnTo>
                  <a:pt x="0" y="0"/>
                </a:lnTo>
                <a:lnTo>
                  <a:pt x="0" y="36374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626745" y="677079"/>
            <a:ext cx="17499408" cy="160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36"/>
              </a:lnSpc>
            </a:pPr>
            <a:r>
              <a:rPr lang="en-US" b="true" sz="9383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</a:t>
            </a:r>
            <a:r>
              <a:rPr lang="en-US" b="true" sz="9383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&amp; Industrial Relevance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163188" y="5302536"/>
            <a:ext cx="2845550" cy="779649"/>
            <a:chOff x="0" y="0"/>
            <a:chExt cx="3794067" cy="1039532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3794067" cy="1039532"/>
              <a:chOff x="0" y="0"/>
              <a:chExt cx="749445" cy="20534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49445" cy="205340"/>
              </a:xfrm>
              <a:custGeom>
                <a:avLst/>
                <a:gdLst/>
                <a:ahLst/>
                <a:cxnLst/>
                <a:rect r="r" b="b" t="t" l="l"/>
                <a:pathLst>
                  <a:path h="205340" w="749445">
                    <a:moveTo>
                      <a:pt x="102670" y="0"/>
                    </a:moveTo>
                    <a:lnTo>
                      <a:pt x="646775" y="0"/>
                    </a:lnTo>
                    <a:cubicBezTo>
                      <a:pt x="703478" y="0"/>
                      <a:pt x="749445" y="45967"/>
                      <a:pt x="749445" y="102670"/>
                    </a:cubicBezTo>
                    <a:lnTo>
                      <a:pt x="749445" y="102670"/>
                    </a:lnTo>
                    <a:cubicBezTo>
                      <a:pt x="749445" y="159373"/>
                      <a:pt x="703478" y="205340"/>
                      <a:pt x="646775" y="205340"/>
                    </a:cubicBezTo>
                    <a:lnTo>
                      <a:pt x="102670" y="205340"/>
                    </a:lnTo>
                    <a:cubicBezTo>
                      <a:pt x="45967" y="205340"/>
                      <a:pt x="0" y="159373"/>
                      <a:pt x="0" y="102670"/>
                    </a:cubicBezTo>
                    <a:lnTo>
                      <a:pt x="0" y="102670"/>
                    </a:lnTo>
                    <a:cubicBezTo>
                      <a:pt x="0" y="45967"/>
                      <a:pt x="45967" y="0"/>
                      <a:pt x="102670" y="0"/>
                    </a:cubicBezTo>
                    <a:close/>
                  </a:path>
                </a:pathLst>
              </a:custGeom>
              <a:solidFill>
                <a:srgbClr val="151B40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749445" cy="2434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0" y="154640"/>
              <a:ext cx="3794067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  <a:r>
                <a:rPr lang="en-US" b="true" sz="3099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</a:t>
              </a:r>
              <a:r>
                <a:rPr lang="en-US" b="true" sz="3099">
                  <a:solidFill>
                    <a:srgbClr val="F4F6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he Objective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716805" y="8434655"/>
            <a:ext cx="3030289" cy="34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Dataset : </a:t>
            </a:r>
            <a:r>
              <a:rPr lang="en-US" sz="197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150 train / 50 test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498847" y="8434655"/>
            <a:ext cx="1573411" cy="34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1"/>
              </a:lnSpc>
              <a:spcBef>
                <a:spcPct val="0"/>
              </a:spcBef>
            </a:pPr>
            <a:r>
              <a:rPr lang="en-US" sz="197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Metric : RMSE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0576" y="1379307"/>
            <a:ext cx="16037250" cy="813156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9655" y="0"/>
                  </a:moveTo>
                  <a:lnTo>
                    <a:pt x="3978175" y="0"/>
                  </a:lnTo>
                  <a:cubicBezTo>
                    <a:pt x="3983507" y="0"/>
                    <a:pt x="3987829" y="4323"/>
                    <a:pt x="3987829" y="9655"/>
                  </a:cubicBezTo>
                  <a:lnTo>
                    <a:pt x="3987829" y="2012343"/>
                  </a:lnTo>
                  <a:cubicBezTo>
                    <a:pt x="3987829" y="2017675"/>
                    <a:pt x="3983507" y="2021998"/>
                    <a:pt x="3978175" y="2021998"/>
                  </a:cubicBezTo>
                  <a:lnTo>
                    <a:pt x="9655" y="2021998"/>
                  </a:lnTo>
                  <a:cubicBezTo>
                    <a:pt x="4323" y="2021998"/>
                    <a:pt x="0" y="2017675"/>
                    <a:pt x="0" y="2012343"/>
                  </a:cubicBezTo>
                  <a:lnTo>
                    <a:pt x="0" y="9655"/>
                  </a:lnTo>
                  <a:cubicBezTo>
                    <a:pt x="0" y="4323"/>
                    <a:pt x="4323" y="0"/>
                    <a:pt x="9655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4502" y="794297"/>
            <a:ext cx="16897093" cy="8428600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164" y="0"/>
                  </a:moveTo>
                  <a:lnTo>
                    <a:pt x="4192474" y="0"/>
                  </a:lnTo>
                  <a:cubicBezTo>
                    <a:pt x="4197535" y="0"/>
                    <a:pt x="4201638" y="4103"/>
                    <a:pt x="4201638" y="9164"/>
                  </a:cubicBezTo>
                  <a:lnTo>
                    <a:pt x="4201638" y="2086696"/>
                  </a:lnTo>
                  <a:cubicBezTo>
                    <a:pt x="4201638" y="2091757"/>
                    <a:pt x="4197535" y="2095859"/>
                    <a:pt x="4192474" y="2095859"/>
                  </a:cubicBezTo>
                  <a:lnTo>
                    <a:pt x="9164" y="2095859"/>
                  </a:lnTo>
                  <a:cubicBezTo>
                    <a:pt x="4103" y="2095859"/>
                    <a:pt x="0" y="2091757"/>
                    <a:pt x="0" y="2086696"/>
                  </a:cubicBezTo>
                  <a:lnTo>
                    <a:pt x="0" y="9164"/>
                  </a:lnTo>
                  <a:cubicBezTo>
                    <a:pt x="0" y="4103"/>
                    <a:pt x="4103" y="0"/>
                    <a:pt x="9164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15464" y="879299"/>
            <a:ext cx="15715167" cy="1351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97"/>
              </a:lnSpc>
              <a:spcBef>
                <a:spcPct val="0"/>
              </a:spcBef>
            </a:pP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Chemical &amp; Process Understanding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49650" y="3788976"/>
            <a:ext cx="16383000" cy="761154"/>
          </a:xfrm>
          <a:custGeom>
            <a:avLst/>
            <a:gdLst/>
            <a:ahLst/>
            <a:cxnLst/>
            <a:rect r="r" b="b" t="t" l="l"/>
            <a:pathLst>
              <a:path h="761154" w="16383000">
                <a:moveTo>
                  <a:pt x="0" y="0"/>
                </a:moveTo>
                <a:lnTo>
                  <a:pt x="16383000" y="0"/>
                </a:lnTo>
                <a:lnTo>
                  <a:pt x="16383000" y="761153"/>
                </a:lnTo>
                <a:lnTo>
                  <a:pt x="0" y="761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1461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1628359" y="3053810"/>
            <a:ext cx="15696892" cy="0"/>
          </a:xfrm>
          <a:prstGeom prst="line">
            <a:avLst/>
          </a:prstGeom>
          <a:ln cap="flat" w="19050">
            <a:solidFill>
              <a:srgbClr val="000000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2718138" y="2604394"/>
            <a:ext cx="898832" cy="8988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11399" y="2604394"/>
            <a:ext cx="898832" cy="89883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04660" y="2604394"/>
            <a:ext cx="898832" cy="89883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97921" y="2604394"/>
            <a:ext cx="898832" cy="89883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491182" y="2604394"/>
            <a:ext cx="898832" cy="89883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A3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249650" y="8283748"/>
            <a:ext cx="2982731" cy="341658"/>
          </a:xfrm>
          <a:custGeom>
            <a:avLst/>
            <a:gdLst/>
            <a:ahLst/>
            <a:cxnLst/>
            <a:rect r="r" b="b" t="t" l="l"/>
            <a:pathLst>
              <a:path h="341658" w="2982731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466007" y="8283748"/>
            <a:ext cx="2982731" cy="341658"/>
          </a:xfrm>
          <a:custGeom>
            <a:avLst/>
            <a:gdLst/>
            <a:ahLst/>
            <a:cxnLst/>
            <a:rect r="r" b="b" t="t" l="l"/>
            <a:pathLst>
              <a:path h="341658" w="2982731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682364" y="8283748"/>
            <a:ext cx="2982731" cy="341658"/>
          </a:xfrm>
          <a:custGeom>
            <a:avLst/>
            <a:gdLst/>
            <a:ahLst/>
            <a:cxnLst/>
            <a:rect r="r" b="b" t="t" l="l"/>
            <a:pathLst>
              <a:path h="341658" w="2982731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835676" y="6821672"/>
            <a:ext cx="2982731" cy="341658"/>
          </a:xfrm>
          <a:custGeom>
            <a:avLst/>
            <a:gdLst/>
            <a:ahLst/>
            <a:cxnLst/>
            <a:rect r="r" b="b" t="t" l="l"/>
            <a:pathLst>
              <a:path h="341658" w="2982731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127583" y="6902623"/>
            <a:ext cx="2982731" cy="341658"/>
          </a:xfrm>
          <a:custGeom>
            <a:avLst/>
            <a:gdLst/>
            <a:ahLst/>
            <a:cxnLst/>
            <a:rect r="r" b="b" t="t" l="l"/>
            <a:pathLst>
              <a:path h="341658" w="2982731">
                <a:moveTo>
                  <a:pt x="0" y="0"/>
                </a:moveTo>
                <a:lnTo>
                  <a:pt x="2982731" y="0"/>
                </a:lnTo>
                <a:lnTo>
                  <a:pt x="2982731" y="341658"/>
                </a:lnTo>
                <a:lnTo>
                  <a:pt x="0" y="341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49650" y="4740629"/>
            <a:ext cx="2982731" cy="3713947"/>
            <a:chOff x="0" y="0"/>
            <a:chExt cx="785575" cy="97815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5575" cy="978159"/>
            </a:xfrm>
            <a:custGeom>
              <a:avLst/>
              <a:gdLst/>
              <a:ahLst/>
              <a:cxnLst/>
              <a:rect r="r" b="b" t="t" l="l"/>
              <a:pathLst>
                <a:path h="978159" w="785575">
                  <a:moveTo>
                    <a:pt x="0" y="0"/>
                  </a:moveTo>
                  <a:lnTo>
                    <a:pt x="785575" y="0"/>
                  </a:lnTo>
                  <a:lnTo>
                    <a:pt x="785575" y="978159"/>
                  </a:lnTo>
                  <a:lnTo>
                    <a:pt x="0" y="978159"/>
                  </a:ln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85575" cy="10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463494" y="4740629"/>
            <a:ext cx="2982731" cy="3713947"/>
            <a:chOff x="0" y="0"/>
            <a:chExt cx="785575" cy="9781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5575" cy="978159"/>
            </a:xfrm>
            <a:custGeom>
              <a:avLst/>
              <a:gdLst/>
              <a:ahLst/>
              <a:cxnLst/>
              <a:rect r="r" b="b" t="t" l="l"/>
              <a:pathLst>
                <a:path h="978159" w="785575">
                  <a:moveTo>
                    <a:pt x="0" y="0"/>
                  </a:moveTo>
                  <a:lnTo>
                    <a:pt x="785575" y="0"/>
                  </a:lnTo>
                  <a:lnTo>
                    <a:pt x="785575" y="978159"/>
                  </a:lnTo>
                  <a:lnTo>
                    <a:pt x="0" y="978159"/>
                  </a:ln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85575" cy="10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677338" y="4740629"/>
            <a:ext cx="2982731" cy="3713947"/>
            <a:chOff x="0" y="0"/>
            <a:chExt cx="785575" cy="9781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5575" cy="978159"/>
            </a:xfrm>
            <a:custGeom>
              <a:avLst/>
              <a:gdLst/>
              <a:ahLst/>
              <a:cxnLst/>
              <a:rect r="r" b="b" t="t" l="l"/>
              <a:pathLst>
                <a:path h="978159" w="785575">
                  <a:moveTo>
                    <a:pt x="0" y="0"/>
                  </a:moveTo>
                  <a:lnTo>
                    <a:pt x="785575" y="0"/>
                  </a:lnTo>
                  <a:lnTo>
                    <a:pt x="785575" y="978159"/>
                  </a:lnTo>
                  <a:lnTo>
                    <a:pt x="0" y="978159"/>
                  </a:ln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85575" cy="1016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14982" y="4750154"/>
            <a:ext cx="2982731" cy="2242347"/>
            <a:chOff x="0" y="0"/>
            <a:chExt cx="785575" cy="59057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85575" cy="590577"/>
            </a:xfrm>
            <a:custGeom>
              <a:avLst/>
              <a:gdLst/>
              <a:ahLst/>
              <a:cxnLst/>
              <a:rect r="r" b="b" t="t" l="l"/>
              <a:pathLst>
                <a:path h="590577" w="785575">
                  <a:moveTo>
                    <a:pt x="0" y="0"/>
                  </a:moveTo>
                  <a:lnTo>
                    <a:pt x="785575" y="0"/>
                  </a:lnTo>
                  <a:lnTo>
                    <a:pt x="785575" y="590577"/>
                  </a:lnTo>
                  <a:lnTo>
                    <a:pt x="0" y="590577"/>
                  </a:ln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85575" cy="628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105027" y="4740629"/>
            <a:ext cx="2982731" cy="2251872"/>
            <a:chOff x="0" y="0"/>
            <a:chExt cx="785575" cy="59308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85575" cy="593086"/>
            </a:xfrm>
            <a:custGeom>
              <a:avLst/>
              <a:gdLst/>
              <a:ahLst/>
              <a:cxnLst/>
              <a:rect r="r" b="b" t="t" l="l"/>
              <a:pathLst>
                <a:path h="593086" w="785575">
                  <a:moveTo>
                    <a:pt x="0" y="0"/>
                  </a:moveTo>
                  <a:lnTo>
                    <a:pt x="785575" y="0"/>
                  </a:lnTo>
                  <a:lnTo>
                    <a:pt x="785575" y="593086"/>
                  </a:lnTo>
                  <a:lnTo>
                    <a:pt x="0" y="593086"/>
                  </a:ln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85575" cy="631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2929429" y="2815685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149100" y="2815685"/>
            <a:ext cx="423430" cy="476250"/>
          </a:xfrm>
          <a:custGeom>
            <a:avLst/>
            <a:gdLst/>
            <a:ahLst/>
            <a:cxnLst/>
            <a:rect r="r" b="b" t="t" l="l"/>
            <a:pathLst>
              <a:path h="476250" w="423430">
                <a:moveTo>
                  <a:pt x="0" y="0"/>
                </a:moveTo>
                <a:lnTo>
                  <a:pt x="423430" y="0"/>
                </a:lnTo>
                <a:lnTo>
                  <a:pt x="42343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312881" y="2815685"/>
            <a:ext cx="482390" cy="476250"/>
          </a:xfrm>
          <a:custGeom>
            <a:avLst/>
            <a:gdLst/>
            <a:ahLst/>
            <a:cxnLst/>
            <a:rect r="r" b="b" t="t" l="l"/>
            <a:pathLst>
              <a:path h="476250" w="482390">
                <a:moveTo>
                  <a:pt x="0" y="0"/>
                </a:moveTo>
                <a:lnTo>
                  <a:pt x="482390" y="0"/>
                </a:lnTo>
                <a:lnTo>
                  <a:pt x="48239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2560194" y="2815685"/>
            <a:ext cx="380134" cy="476250"/>
          </a:xfrm>
          <a:custGeom>
            <a:avLst/>
            <a:gdLst/>
            <a:ahLst/>
            <a:cxnLst/>
            <a:rect r="r" b="b" t="t" l="l"/>
            <a:pathLst>
              <a:path h="476250" w="380134">
                <a:moveTo>
                  <a:pt x="0" y="0"/>
                </a:moveTo>
                <a:lnTo>
                  <a:pt x="380134" y="0"/>
                </a:lnTo>
                <a:lnTo>
                  <a:pt x="380134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696253" y="2815685"/>
            <a:ext cx="488689" cy="476250"/>
          </a:xfrm>
          <a:custGeom>
            <a:avLst/>
            <a:gdLst/>
            <a:ahLst/>
            <a:cxnLst/>
            <a:rect r="r" b="b" t="t" l="l"/>
            <a:pathLst>
              <a:path h="476250" w="488689">
                <a:moveTo>
                  <a:pt x="0" y="0"/>
                </a:moveTo>
                <a:lnTo>
                  <a:pt x="488690" y="0"/>
                </a:lnTo>
                <a:lnTo>
                  <a:pt x="48869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720414" y="3904758"/>
            <a:ext cx="251196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Kinetic Tradeoff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713143" y="3853576"/>
            <a:ext cx="2803813" cy="62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4"/>
              </a:lnSpc>
            </a:pPr>
            <a:r>
              <a:rPr lang="en-US" b="true" sz="2400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Thermally Self Destabilizing Flow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288630" y="3893751"/>
            <a:ext cx="2295013" cy="62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4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Jacket Only Fallacy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504963" y="3884226"/>
            <a:ext cx="2110463" cy="62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4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Residence Time Dynamics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645439" y="3836601"/>
            <a:ext cx="2485193" cy="62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4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Validating "ZeroYield" Data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22834" y="5247813"/>
            <a:ext cx="2790608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 side reaction (B → C) is significantly more temperaturesensitive than the desired 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reac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tion (A →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B). Cons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quently,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raising the temperature destroys Product B faster than it synthesizes it.</a:t>
            </a:r>
          </a:p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4463494" y="5247813"/>
            <a:ext cx="2861419" cy="303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 primary reaction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A → B is 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ndothermic (β₁ &lt; 0),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causing the feed to selfcool upon entry.</a:t>
            </a:r>
          </a:p>
          <a:p>
            <a:pPr algn="just" marL="345439" indent="-172720" lvl="1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The secondary r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eact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io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 B → C 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is exothermic (β₂ &gt; 0), releasing heat down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stream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exactly where Product B concentration peaks and is most vulnerable to degradation.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37274" y="4783809"/>
            <a:ext cx="20074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E₂</a:t>
            </a: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≫ E₁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874476" y="4828530"/>
            <a:ext cx="21607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</a:t>
            </a: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oal Setting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42723" y="5247813"/>
            <a:ext cx="2740919" cy="303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Mod</a:t>
            </a: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els utilizing </a:t>
            </a: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only a jacket energy balanc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 fail because they are forced to repro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du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ce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a 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sharp thermal swi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tch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with a single Arrhenius term. This results in a physically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impossib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le activation energy of E₂ ≈ 634 kJ/mol. Incorporating both reaction enthalpies successfully resolves this.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88320" y="4828530"/>
            <a:ext cx="21607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</a:t>
            </a: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rategy Design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888670" y="5247813"/>
            <a:ext cx="2876744" cy="16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The yield ve</a:t>
            </a: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rsus τ (wh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ere τ = L/Q) exhibits an int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erior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maximum. This opt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imum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shifts to 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sho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rter residence times (τ) as the mixture temperature (T_mix) rises.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302164" y="4794250"/>
            <a:ext cx="21607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Preparation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150139" y="5139680"/>
            <a:ext cx="2937619" cy="16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Th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 37 exact zeroyi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eld r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ws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are not sensor f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lur</a:t>
            </a:r>
            <a:r>
              <a:rPr lang="en-US" sz="15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es or missing data. They represent a physical selectivity cliff past 460 K where Product B is completely consumed into Byproduct C.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516008" y="4828530"/>
            <a:ext cx="21607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</a:t>
            </a: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ecution Stage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0814982" y="7163330"/>
            <a:ext cx="6295332" cy="1300772"/>
            <a:chOff x="0" y="0"/>
            <a:chExt cx="1658030" cy="34259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658030" cy="342590"/>
            </a:xfrm>
            <a:custGeom>
              <a:avLst/>
              <a:gdLst/>
              <a:ahLst/>
              <a:cxnLst/>
              <a:rect r="r" b="b" t="t" l="l"/>
              <a:pathLst>
                <a:path h="342590" w="1658030">
                  <a:moveTo>
                    <a:pt x="0" y="0"/>
                  </a:moveTo>
                  <a:lnTo>
                    <a:pt x="1658030" y="0"/>
                  </a:lnTo>
                  <a:lnTo>
                    <a:pt x="1658030" y="342590"/>
                  </a:lnTo>
                  <a:lnTo>
                    <a:pt x="0" y="342590"/>
                  </a:ln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658030" cy="380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0792426" y="7163330"/>
            <a:ext cx="629533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First Order Kinetics Supported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74948" y="7426498"/>
            <a:ext cx="5775400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ie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ld is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in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epen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o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i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et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c</a:t>
            </a:r>
            <a:r>
              <a:rPr lang="en-US" sz="1699" strike="noStrike" u="non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oncentration (r = 0.009), consistent with first order. Freeing the order worsens CV, so we keep n = 1.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47193" y="1030098"/>
            <a:ext cx="16430237" cy="8907177"/>
            <a:chOff x="0" y="0"/>
            <a:chExt cx="3915477" cy="2122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477" cy="2122662"/>
            </a:xfrm>
            <a:custGeom>
              <a:avLst/>
              <a:gdLst/>
              <a:ahLst/>
              <a:cxnLst/>
              <a:rect r="r" b="b" t="t" l="l"/>
              <a:pathLst>
                <a:path h="2122662" w="3915477">
                  <a:moveTo>
                    <a:pt x="9424" y="0"/>
                  </a:moveTo>
                  <a:lnTo>
                    <a:pt x="3906053" y="0"/>
                  </a:lnTo>
                  <a:cubicBezTo>
                    <a:pt x="3911258" y="0"/>
                    <a:pt x="3915477" y="4219"/>
                    <a:pt x="3915477" y="9424"/>
                  </a:cubicBezTo>
                  <a:lnTo>
                    <a:pt x="3915477" y="2113238"/>
                  </a:lnTo>
                  <a:cubicBezTo>
                    <a:pt x="3915477" y="2115738"/>
                    <a:pt x="3914484" y="2118135"/>
                    <a:pt x="3912717" y="2119902"/>
                  </a:cubicBezTo>
                  <a:cubicBezTo>
                    <a:pt x="3910949" y="2121669"/>
                    <a:pt x="3908552" y="2122662"/>
                    <a:pt x="3906053" y="2122662"/>
                  </a:cubicBezTo>
                  <a:lnTo>
                    <a:pt x="9424" y="2122662"/>
                  </a:lnTo>
                  <a:cubicBezTo>
                    <a:pt x="4219" y="2122662"/>
                    <a:pt x="0" y="2118443"/>
                    <a:pt x="0" y="2113238"/>
                  </a:cubicBezTo>
                  <a:lnTo>
                    <a:pt x="0" y="9424"/>
                  </a:lnTo>
                  <a:cubicBezTo>
                    <a:pt x="0" y="6925"/>
                    <a:pt x="993" y="4528"/>
                    <a:pt x="2760" y="2760"/>
                  </a:cubicBezTo>
                  <a:cubicBezTo>
                    <a:pt x="4528" y="993"/>
                    <a:pt x="6925" y="0"/>
                    <a:pt x="9424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15477" cy="2160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8321" y="389288"/>
            <a:ext cx="17311151" cy="9232546"/>
            <a:chOff x="0" y="0"/>
            <a:chExt cx="4125407" cy="22002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25406" cy="2200201"/>
            </a:xfrm>
            <a:custGeom>
              <a:avLst/>
              <a:gdLst/>
              <a:ahLst/>
              <a:cxnLst/>
              <a:rect r="r" b="b" t="t" l="l"/>
              <a:pathLst>
                <a:path h="2200201" w="4125406">
                  <a:moveTo>
                    <a:pt x="8944" y="0"/>
                  </a:moveTo>
                  <a:lnTo>
                    <a:pt x="4116462" y="0"/>
                  </a:lnTo>
                  <a:cubicBezTo>
                    <a:pt x="4118834" y="0"/>
                    <a:pt x="4121109" y="942"/>
                    <a:pt x="4122787" y="2620"/>
                  </a:cubicBezTo>
                  <a:cubicBezTo>
                    <a:pt x="4124464" y="4297"/>
                    <a:pt x="4125406" y="6572"/>
                    <a:pt x="4125406" y="8944"/>
                  </a:cubicBezTo>
                  <a:lnTo>
                    <a:pt x="4125406" y="2191256"/>
                  </a:lnTo>
                  <a:cubicBezTo>
                    <a:pt x="4125406" y="2193629"/>
                    <a:pt x="4124464" y="2195904"/>
                    <a:pt x="4122787" y="2197581"/>
                  </a:cubicBezTo>
                  <a:cubicBezTo>
                    <a:pt x="4121109" y="2199258"/>
                    <a:pt x="4118834" y="2200201"/>
                    <a:pt x="4116462" y="2200201"/>
                  </a:cubicBezTo>
                  <a:lnTo>
                    <a:pt x="8944" y="2200201"/>
                  </a:lnTo>
                  <a:cubicBezTo>
                    <a:pt x="6572" y="2200201"/>
                    <a:pt x="4297" y="2199258"/>
                    <a:pt x="2620" y="2197581"/>
                  </a:cubicBezTo>
                  <a:cubicBezTo>
                    <a:pt x="942" y="2195904"/>
                    <a:pt x="0" y="2193629"/>
                    <a:pt x="0" y="2191256"/>
                  </a:cubicBezTo>
                  <a:lnTo>
                    <a:pt x="0" y="8944"/>
                  </a:lnTo>
                  <a:cubicBezTo>
                    <a:pt x="0" y="6572"/>
                    <a:pt x="942" y="4297"/>
                    <a:pt x="2620" y="2620"/>
                  </a:cubicBezTo>
                  <a:cubicBezTo>
                    <a:pt x="4297" y="942"/>
                    <a:pt x="6572" y="0"/>
                    <a:pt x="8944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125407" cy="2238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636386" y="479554"/>
            <a:ext cx="5925926" cy="9052014"/>
          </a:xfrm>
          <a:custGeom>
            <a:avLst/>
            <a:gdLst/>
            <a:ahLst/>
            <a:cxnLst/>
            <a:rect r="r" b="b" t="t" l="l"/>
            <a:pathLst>
              <a:path h="9052014" w="5925926">
                <a:moveTo>
                  <a:pt x="0" y="0"/>
                </a:moveTo>
                <a:lnTo>
                  <a:pt x="5925926" y="0"/>
                </a:lnTo>
                <a:lnTo>
                  <a:pt x="5925926" y="9052014"/>
                </a:lnTo>
                <a:lnTo>
                  <a:pt x="0" y="9052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79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5400000">
            <a:off x="-2157116" y="4204228"/>
            <a:ext cx="7941150" cy="16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7"/>
              </a:lnSpc>
            </a:pPr>
            <a:r>
              <a:rPr lang="en-US" b="true" sz="712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</a:t>
            </a:r>
            <a:r>
              <a:rPr lang="en-US" b="true" sz="7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 M</a:t>
            </a:r>
            <a:r>
              <a:rPr lang="en-US" b="true" sz="7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eth</a:t>
            </a:r>
            <a:r>
              <a:rPr lang="en-US" b="true" sz="7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od</a:t>
            </a:r>
            <a:r>
              <a:rPr lang="en-US" b="true" sz="7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b="true" sz="7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</a:t>
            </a:r>
            <a:r>
              <a:rPr lang="en-US" b="true" sz="7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ogy </a:t>
            </a:r>
            <a:r>
              <a:rPr lang="en-US" b="true" sz="7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Approach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81362" y="854302"/>
            <a:ext cx="9257873" cy="8302519"/>
            <a:chOff x="0" y="0"/>
            <a:chExt cx="12343831" cy="11070025"/>
          </a:xfrm>
        </p:grpSpPr>
        <p:grpSp>
          <p:nvGrpSpPr>
            <p:cNvPr name="Group 17" id="17"/>
            <p:cNvGrpSpPr/>
            <p:nvPr/>
          </p:nvGrpSpPr>
          <p:grpSpPr>
            <a:xfrm rot="5400000">
              <a:off x="276712" y="2388794"/>
              <a:ext cx="3471935" cy="2584110"/>
              <a:chOff x="0" y="0"/>
              <a:chExt cx="741924" cy="55220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41924" cy="552203"/>
              </a:xfrm>
              <a:custGeom>
                <a:avLst/>
                <a:gdLst/>
                <a:ahLst/>
                <a:cxnLst/>
                <a:rect r="r" b="b" t="t" l="l"/>
                <a:pathLst>
                  <a:path h="552203" w="741924">
                    <a:moveTo>
                      <a:pt x="0" y="0"/>
                    </a:moveTo>
                    <a:lnTo>
                      <a:pt x="538724" y="0"/>
                    </a:lnTo>
                    <a:lnTo>
                      <a:pt x="741924" y="276102"/>
                    </a:lnTo>
                    <a:lnTo>
                      <a:pt x="538724" y="552203"/>
                    </a:lnTo>
                    <a:lnTo>
                      <a:pt x="0" y="552203"/>
                    </a:lnTo>
                    <a:lnTo>
                      <a:pt x="203200" y="2761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B8F5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77800" y="-9525"/>
                <a:ext cx="487924" cy="561728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95676" y="0"/>
              <a:ext cx="3834007" cy="3834007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4B8F5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0" y="56170"/>
              <a:ext cx="4025358" cy="4025358"/>
            </a:xfrm>
            <a:custGeom>
              <a:avLst/>
              <a:gdLst/>
              <a:ahLst/>
              <a:cxnLst/>
              <a:rect r="r" b="b" t="t" l="l"/>
              <a:pathLst>
                <a:path h="4025358" w="4025358">
                  <a:moveTo>
                    <a:pt x="0" y="0"/>
                  </a:moveTo>
                  <a:lnTo>
                    <a:pt x="4025358" y="0"/>
                  </a:lnTo>
                  <a:lnTo>
                    <a:pt x="4025358" y="4025358"/>
                  </a:lnTo>
                  <a:lnTo>
                    <a:pt x="0" y="402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4" id="24"/>
            <p:cNvGrpSpPr/>
            <p:nvPr/>
          </p:nvGrpSpPr>
          <p:grpSpPr>
            <a:xfrm rot="0">
              <a:off x="234841" y="291011"/>
              <a:ext cx="3555676" cy="3555676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465381" y="4080446"/>
              <a:ext cx="1094596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b="true" sz="3333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01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5400000">
              <a:off x="276712" y="8042003"/>
              <a:ext cx="3471935" cy="2584110"/>
              <a:chOff x="0" y="0"/>
              <a:chExt cx="741924" cy="55220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41924" cy="552203"/>
              </a:xfrm>
              <a:custGeom>
                <a:avLst/>
                <a:gdLst/>
                <a:ahLst/>
                <a:cxnLst/>
                <a:rect r="r" b="b" t="t" l="l"/>
                <a:pathLst>
                  <a:path h="552203" w="741924">
                    <a:moveTo>
                      <a:pt x="0" y="0"/>
                    </a:moveTo>
                    <a:lnTo>
                      <a:pt x="538724" y="0"/>
                    </a:lnTo>
                    <a:lnTo>
                      <a:pt x="741924" y="276102"/>
                    </a:lnTo>
                    <a:lnTo>
                      <a:pt x="538724" y="552203"/>
                    </a:lnTo>
                    <a:lnTo>
                      <a:pt x="0" y="552203"/>
                    </a:lnTo>
                    <a:lnTo>
                      <a:pt x="203200" y="2761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1D65B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9525"/>
                <a:ext cx="487924" cy="561728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95676" y="5653208"/>
              <a:ext cx="3834007" cy="3834007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1D65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0" y="5709378"/>
              <a:ext cx="4025358" cy="4025358"/>
            </a:xfrm>
            <a:custGeom>
              <a:avLst/>
              <a:gdLst/>
              <a:ahLst/>
              <a:cxnLst/>
              <a:rect r="r" b="b" t="t" l="l"/>
              <a:pathLst>
                <a:path h="4025358" w="4025358">
                  <a:moveTo>
                    <a:pt x="0" y="0"/>
                  </a:moveTo>
                  <a:lnTo>
                    <a:pt x="4025358" y="0"/>
                  </a:lnTo>
                  <a:lnTo>
                    <a:pt x="4025358" y="4025358"/>
                  </a:lnTo>
                  <a:lnTo>
                    <a:pt x="0" y="402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234841" y="5944219"/>
              <a:ext cx="3555676" cy="3555676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465381" y="9723219"/>
              <a:ext cx="1094596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b="true" sz="3333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04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5400000">
              <a:off x="4438928" y="2388794"/>
              <a:ext cx="3471935" cy="2584110"/>
              <a:chOff x="0" y="0"/>
              <a:chExt cx="741924" cy="55220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41924" cy="552203"/>
              </a:xfrm>
              <a:custGeom>
                <a:avLst/>
                <a:gdLst/>
                <a:ahLst/>
                <a:cxnLst/>
                <a:rect r="r" b="b" t="t" l="l"/>
                <a:pathLst>
                  <a:path h="552203" w="741924">
                    <a:moveTo>
                      <a:pt x="0" y="0"/>
                    </a:moveTo>
                    <a:lnTo>
                      <a:pt x="538724" y="0"/>
                    </a:lnTo>
                    <a:lnTo>
                      <a:pt x="741924" y="276102"/>
                    </a:lnTo>
                    <a:lnTo>
                      <a:pt x="538724" y="552203"/>
                    </a:lnTo>
                    <a:lnTo>
                      <a:pt x="0" y="552203"/>
                    </a:lnTo>
                    <a:lnTo>
                      <a:pt x="203200" y="2761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FDE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77800" y="-9525"/>
                <a:ext cx="487924" cy="561728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257892" y="0"/>
              <a:ext cx="3834007" cy="3834007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CFDE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4162216" y="56170"/>
              <a:ext cx="4025358" cy="4025358"/>
            </a:xfrm>
            <a:custGeom>
              <a:avLst/>
              <a:gdLst/>
              <a:ahLst/>
              <a:cxnLst/>
              <a:rect r="r" b="b" t="t" l="l"/>
              <a:pathLst>
                <a:path h="4025358" w="4025358">
                  <a:moveTo>
                    <a:pt x="0" y="0"/>
                  </a:moveTo>
                  <a:lnTo>
                    <a:pt x="4025359" y="0"/>
                  </a:lnTo>
                  <a:lnTo>
                    <a:pt x="4025359" y="4025358"/>
                  </a:lnTo>
                  <a:lnTo>
                    <a:pt x="0" y="402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6" id="46"/>
            <p:cNvGrpSpPr/>
            <p:nvPr/>
          </p:nvGrpSpPr>
          <p:grpSpPr>
            <a:xfrm rot="0">
              <a:off x="4397058" y="291011"/>
              <a:ext cx="3555676" cy="3555676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5627597" y="4080446"/>
              <a:ext cx="1094596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b="true" sz="3333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02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5400000">
              <a:off x="4438928" y="8042003"/>
              <a:ext cx="3471935" cy="2584110"/>
              <a:chOff x="0" y="0"/>
              <a:chExt cx="741924" cy="552203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41924" cy="552203"/>
              </a:xfrm>
              <a:custGeom>
                <a:avLst/>
                <a:gdLst/>
                <a:ahLst/>
                <a:cxnLst/>
                <a:rect r="r" b="b" t="t" l="l"/>
                <a:pathLst>
                  <a:path h="552203" w="741924">
                    <a:moveTo>
                      <a:pt x="0" y="0"/>
                    </a:moveTo>
                    <a:lnTo>
                      <a:pt x="538724" y="0"/>
                    </a:lnTo>
                    <a:lnTo>
                      <a:pt x="741924" y="276102"/>
                    </a:lnTo>
                    <a:lnTo>
                      <a:pt x="538724" y="552203"/>
                    </a:lnTo>
                    <a:lnTo>
                      <a:pt x="0" y="552203"/>
                    </a:lnTo>
                    <a:lnTo>
                      <a:pt x="203200" y="2761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FCE2F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177800" y="-9525"/>
                <a:ext cx="487924" cy="561728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4257892" y="5653208"/>
              <a:ext cx="3834007" cy="3834007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CE2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4162216" y="5709378"/>
              <a:ext cx="4025358" cy="4025358"/>
            </a:xfrm>
            <a:custGeom>
              <a:avLst/>
              <a:gdLst/>
              <a:ahLst/>
              <a:cxnLst/>
              <a:rect r="r" b="b" t="t" l="l"/>
              <a:pathLst>
                <a:path h="4025358" w="4025358">
                  <a:moveTo>
                    <a:pt x="0" y="0"/>
                  </a:moveTo>
                  <a:lnTo>
                    <a:pt x="4025359" y="0"/>
                  </a:lnTo>
                  <a:lnTo>
                    <a:pt x="4025359" y="4025358"/>
                  </a:lnTo>
                  <a:lnTo>
                    <a:pt x="0" y="402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7" id="57"/>
            <p:cNvGrpSpPr/>
            <p:nvPr/>
          </p:nvGrpSpPr>
          <p:grpSpPr>
            <a:xfrm rot="0">
              <a:off x="4397058" y="5944219"/>
              <a:ext cx="3555676" cy="3555676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5627597" y="9723219"/>
              <a:ext cx="1094596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b="true" sz="3333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05</a:t>
              </a:r>
            </a:p>
          </p:txBody>
        </p:sp>
        <p:grpSp>
          <p:nvGrpSpPr>
            <p:cNvPr name="Group 61" id="61"/>
            <p:cNvGrpSpPr/>
            <p:nvPr/>
          </p:nvGrpSpPr>
          <p:grpSpPr>
            <a:xfrm rot="5400000">
              <a:off x="8595184" y="2388794"/>
              <a:ext cx="3471935" cy="2584110"/>
              <a:chOff x="0" y="0"/>
              <a:chExt cx="741924" cy="552203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741924" cy="552203"/>
              </a:xfrm>
              <a:custGeom>
                <a:avLst/>
                <a:gdLst/>
                <a:ahLst/>
                <a:cxnLst/>
                <a:rect r="r" b="b" t="t" l="l"/>
                <a:pathLst>
                  <a:path h="552203" w="741924">
                    <a:moveTo>
                      <a:pt x="0" y="0"/>
                    </a:moveTo>
                    <a:lnTo>
                      <a:pt x="538724" y="0"/>
                    </a:lnTo>
                    <a:lnTo>
                      <a:pt x="741924" y="276102"/>
                    </a:lnTo>
                    <a:lnTo>
                      <a:pt x="538724" y="552203"/>
                    </a:lnTo>
                    <a:lnTo>
                      <a:pt x="0" y="552203"/>
                    </a:lnTo>
                    <a:lnTo>
                      <a:pt x="203200" y="2761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D5BA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177800" y="-9525"/>
                <a:ext cx="487924" cy="561728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8414148" y="0"/>
              <a:ext cx="3834007" cy="3834007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D5BA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7" id="67"/>
            <p:cNvSpPr/>
            <p:nvPr/>
          </p:nvSpPr>
          <p:spPr>
            <a:xfrm flipH="false" flipV="false" rot="0">
              <a:off x="8318472" y="56170"/>
              <a:ext cx="4025358" cy="4025358"/>
            </a:xfrm>
            <a:custGeom>
              <a:avLst/>
              <a:gdLst/>
              <a:ahLst/>
              <a:cxnLst/>
              <a:rect r="r" b="b" t="t" l="l"/>
              <a:pathLst>
                <a:path h="4025358" w="4025358">
                  <a:moveTo>
                    <a:pt x="0" y="0"/>
                  </a:moveTo>
                  <a:lnTo>
                    <a:pt x="4025359" y="0"/>
                  </a:lnTo>
                  <a:lnTo>
                    <a:pt x="4025359" y="4025358"/>
                  </a:lnTo>
                  <a:lnTo>
                    <a:pt x="0" y="402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8" id="68"/>
            <p:cNvGrpSpPr/>
            <p:nvPr/>
          </p:nvGrpSpPr>
          <p:grpSpPr>
            <a:xfrm rot="0">
              <a:off x="8553314" y="291011"/>
              <a:ext cx="3555676" cy="3555676"/>
              <a:chOff x="0" y="0"/>
              <a:chExt cx="812800" cy="8128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9783853" y="4080446"/>
              <a:ext cx="1094596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b="true" sz="3333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03</a:t>
              </a:r>
            </a:p>
          </p:txBody>
        </p:sp>
        <p:grpSp>
          <p:nvGrpSpPr>
            <p:cNvPr name="Group 72" id="72"/>
            <p:cNvGrpSpPr/>
            <p:nvPr/>
          </p:nvGrpSpPr>
          <p:grpSpPr>
            <a:xfrm rot="5400000">
              <a:off x="8595184" y="8042003"/>
              <a:ext cx="3471935" cy="2584110"/>
              <a:chOff x="0" y="0"/>
              <a:chExt cx="741924" cy="552203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741924" cy="552203"/>
              </a:xfrm>
              <a:custGeom>
                <a:avLst/>
                <a:gdLst/>
                <a:ahLst/>
                <a:cxnLst/>
                <a:rect r="r" b="b" t="t" l="l"/>
                <a:pathLst>
                  <a:path h="552203" w="741924">
                    <a:moveTo>
                      <a:pt x="0" y="0"/>
                    </a:moveTo>
                    <a:lnTo>
                      <a:pt x="538724" y="0"/>
                    </a:lnTo>
                    <a:lnTo>
                      <a:pt x="741924" y="276102"/>
                    </a:lnTo>
                    <a:lnTo>
                      <a:pt x="538724" y="552203"/>
                    </a:lnTo>
                    <a:lnTo>
                      <a:pt x="0" y="552203"/>
                    </a:lnTo>
                    <a:lnTo>
                      <a:pt x="203200" y="2761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BE22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177800" y="-9525"/>
                <a:ext cx="487924" cy="561728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8414148" y="5653208"/>
              <a:ext cx="3834007" cy="3834007"/>
              <a:chOff x="0" y="0"/>
              <a:chExt cx="812800" cy="8128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BE22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78" id="78"/>
            <p:cNvSpPr/>
            <p:nvPr/>
          </p:nvSpPr>
          <p:spPr>
            <a:xfrm flipH="false" flipV="false" rot="0">
              <a:off x="8318472" y="5709378"/>
              <a:ext cx="4025358" cy="4025358"/>
            </a:xfrm>
            <a:custGeom>
              <a:avLst/>
              <a:gdLst/>
              <a:ahLst/>
              <a:cxnLst/>
              <a:rect r="r" b="b" t="t" l="l"/>
              <a:pathLst>
                <a:path h="4025358" w="4025358">
                  <a:moveTo>
                    <a:pt x="0" y="0"/>
                  </a:moveTo>
                  <a:lnTo>
                    <a:pt x="4025359" y="0"/>
                  </a:lnTo>
                  <a:lnTo>
                    <a:pt x="4025359" y="4025358"/>
                  </a:lnTo>
                  <a:lnTo>
                    <a:pt x="0" y="402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9" id="79"/>
            <p:cNvGrpSpPr/>
            <p:nvPr/>
          </p:nvGrpSpPr>
          <p:grpSpPr>
            <a:xfrm rot="0">
              <a:off x="8553314" y="5944219"/>
              <a:ext cx="3555676" cy="3555676"/>
              <a:chOff x="0" y="0"/>
              <a:chExt cx="812800" cy="8128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47441" lIns="47441" bIns="47441" rIns="47441"/>
              <a:lstStyle/>
              <a:p>
                <a:pPr algn="ctr" marL="0" indent="0" lvl="0">
                  <a:lnSpc>
                    <a:spcPts val="1919"/>
                  </a:lnSpc>
                </a:pPr>
              </a:p>
            </p:txBody>
          </p:sp>
        </p:grpSp>
        <p:sp>
          <p:nvSpPr>
            <p:cNvPr name="TextBox 82" id="82"/>
            <p:cNvSpPr txBox="true"/>
            <p:nvPr/>
          </p:nvSpPr>
          <p:spPr>
            <a:xfrm rot="0">
              <a:off x="9783853" y="9723219"/>
              <a:ext cx="1094596" cy="673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b="true" sz="3333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06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573001" y="1539335"/>
              <a:ext cx="2869803" cy="158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Recovered the 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exact differential equations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energy and mole balances instead of relying on black box ML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720624" y="716693"/>
              <a:ext cx="2487436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6"/>
                </a:lnSpc>
              </a:pPr>
              <a:r>
                <a:rPr lang="en-US" b="true" sz="1672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GOVERNING EQUATIONS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4588261" y="1539335"/>
              <a:ext cx="3121139" cy="190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Depl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oyed an 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unconditionally stable ETD midpoint integrator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accurately handle sharp thermal switches in the reactor.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4928197" y="676725"/>
              <a:ext cx="2487436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6"/>
                </a:lnSpc>
              </a:pPr>
              <a:r>
                <a:rPr lang="en-US" b="true" sz="1672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STABLE INTEGRATION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519711" y="7278915"/>
              <a:ext cx="2990859" cy="158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Executed strict 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5-fold crossvalidati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on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alongside 24 wide multistart restarts to secure the true global optimum.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764184" y="6382601"/>
              <a:ext cx="2487436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b="true" sz="1567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CROSS</a:t>
              </a:r>
            </a:p>
            <a:p>
              <a:pPr algn="ctr">
                <a:lnSpc>
                  <a:spcPts val="2006"/>
                </a:lnSpc>
              </a:pPr>
              <a:r>
                <a:rPr lang="en-US" b="true" sz="1672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VALIDATION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4614326" y="7074617"/>
              <a:ext cx="3121139" cy="190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Trained an 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ExtraTre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es regressor 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solely on physics residuals, using a 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deliberate shrinkage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weight to prevent overfitting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4931177" y="6544580"/>
              <a:ext cx="2487436" cy="33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6"/>
                </a:lnSpc>
              </a:pPr>
              <a:r>
                <a:rPr lang="en-US" b="true" sz="1672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ML RESIDUALS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8800408" y="1377093"/>
              <a:ext cx="3049253" cy="158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Inferred data c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ontamination to justify using a </a:t>
              </a:r>
              <a:r>
                <a:rPr lang="en-US" b="true" sz="1567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Cauchy loss function</a:t>
              </a: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highly robust parameter optimization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9146791" y="851405"/>
              <a:ext cx="2487436" cy="33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6"/>
                </a:lnSpc>
              </a:pPr>
              <a:r>
                <a:rPr lang="en-US" b="true" sz="1672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ROBUST FITTING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8867020" y="7270105"/>
              <a:ext cx="2828804" cy="190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880"/>
                </a:lnSpc>
                <a:spcBef>
                  <a:spcPct val="0"/>
                </a:spcBef>
              </a:pPr>
              <a:r>
                <a:rPr lang="en-US" sz="1567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Combin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dominan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 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sical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mo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del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 th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b="true" sz="1567" strike="noStrike" u="none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mino</a:t>
              </a:r>
              <a:r>
                <a:rPr lang="en-US" b="true" sz="1567" strike="noStrike" u="none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</a:t>
              </a:r>
              <a:r>
                <a:rPr lang="en-US" b="true" sz="1567" strike="noStrike" u="none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ML correct</a:t>
              </a:r>
              <a:r>
                <a:rPr lang="en-US" b="true" sz="1567" strike="noStrike" u="none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</a:t>
              </a:r>
              <a:r>
                <a:rPr lang="en-US" b="true" sz="1567" strike="noStrike" u="none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</a:t>
              </a:r>
              <a:r>
                <a:rPr lang="en-US" b="true" sz="1567" strike="noStrike" u="none">
                  <a:solidFill>
                    <a:srgbClr val="737373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enerate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y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ura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fi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al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pr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edic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</a:t>
              </a:r>
              <a:r>
                <a:rPr lang="en-US" sz="1567" strike="noStrike" u="none">
                  <a:solidFill>
                    <a:srgbClr val="737373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ion.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9093501" y="6369901"/>
              <a:ext cx="2487436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6"/>
                </a:lnSpc>
              </a:pPr>
              <a:r>
                <a:rPr lang="en-US" b="true" sz="1672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HYBRID PREDICTION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47193" y="1030098"/>
            <a:ext cx="16430237" cy="8907177"/>
            <a:chOff x="0" y="0"/>
            <a:chExt cx="3915477" cy="2122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477" cy="2122662"/>
            </a:xfrm>
            <a:custGeom>
              <a:avLst/>
              <a:gdLst/>
              <a:ahLst/>
              <a:cxnLst/>
              <a:rect r="r" b="b" t="t" l="l"/>
              <a:pathLst>
                <a:path h="2122662" w="3915477">
                  <a:moveTo>
                    <a:pt x="9424" y="0"/>
                  </a:moveTo>
                  <a:lnTo>
                    <a:pt x="3906053" y="0"/>
                  </a:lnTo>
                  <a:cubicBezTo>
                    <a:pt x="3911258" y="0"/>
                    <a:pt x="3915477" y="4219"/>
                    <a:pt x="3915477" y="9424"/>
                  </a:cubicBezTo>
                  <a:lnTo>
                    <a:pt x="3915477" y="2113238"/>
                  </a:lnTo>
                  <a:cubicBezTo>
                    <a:pt x="3915477" y="2115738"/>
                    <a:pt x="3914484" y="2118135"/>
                    <a:pt x="3912717" y="2119902"/>
                  </a:cubicBezTo>
                  <a:cubicBezTo>
                    <a:pt x="3910949" y="2121669"/>
                    <a:pt x="3908552" y="2122662"/>
                    <a:pt x="3906053" y="2122662"/>
                  </a:cubicBezTo>
                  <a:lnTo>
                    <a:pt x="9424" y="2122662"/>
                  </a:lnTo>
                  <a:cubicBezTo>
                    <a:pt x="4219" y="2122662"/>
                    <a:pt x="0" y="2118443"/>
                    <a:pt x="0" y="2113238"/>
                  </a:cubicBezTo>
                  <a:lnTo>
                    <a:pt x="0" y="9424"/>
                  </a:lnTo>
                  <a:cubicBezTo>
                    <a:pt x="0" y="6925"/>
                    <a:pt x="993" y="4528"/>
                    <a:pt x="2760" y="2760"/>
                  </a:cubicBezTo>
                  <a:cubicBezTo>
                    <a:pt x="4528" y="993"/>
                    <a:pt x="6925" y="0"/>
                    <a:pt x="9424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15477" cy="2160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8321" y="389288"/>
            <a:ext cx="17311151" cy="9232546"/>
            <a:chOff x="0" y="0"/>
            <a:chExt cx="4125407" cy="22002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25406" cy="2200201"/>
            </a:xfrm>
            <a:custGeom>
              <a:avLst/>
              <a:gdLst/>
              <a:ahLst/>
              <a:cxnLst/>
              <a:rect r="r" b="b" t="t" l="l"/>
              <a:pathLst>
                <a:path h="2200201" w="4125406">
                  <a:moveTo>
                    <a:pt x="8944" y="0"/>
                  </a:moveTo>
                  <a:lnTo>
                    <a:pt x="4116462" y="0"/>
                  </a:lnTo>
                  <a:cubicBezTo>
                    <a:pt x="4118834" y="0"/>
                    <a:pt x="4121109" y="942"/>
                    <a:pt x="4122787" y="2620"/>
                  </a:cubicBezTo>
                  <a:cubicBezTo>
                    <a:pt x="4124464" y="4297"/>
                    <a:pt x="4125406" y="6572"/>
                    <a:pt x="4125406" y="8944"/>
                  </a:cubicBezTo>
                  <a:lnTo>
                    <a:pt x="4125406" y="2191256"/>
                  </a:lnTo>
                  <a:cubicBezTo>
                    <a:pt x="4125406" y="2193629"/>
                    <a:pt x="4124464" y="2195904"/>
                    <a:pt x="4122787" y="2197581"/>
                  </a:cubicBezTo>
                  <a:cubicBezTo>
                    <a:pt x="4121109" y="2199258"/>
                    <a:pt x="4118834" y="2200201"/>
                    <a:pt x="4116462" y="2200201"/>
                  </a:cubicBezTo>
                  <a:lnTo>
                    <a:pt x="8944" y="2200201"/>
                  </a:lnTo>
                  <a:cubicBezTo>
                    <a:pt x="6572" y="2200201"/>
                    <a:pt x="4297" y="2199258"/>
                    <a:pt x="2620" y="2197581"/>
                  </a:cubicBezTo>
                  <a:cubicBezTo>
                    <a:pt x="942" y="2195904"/>
                    <a:pt x="0" y="2193629"/>
                    <a:pt x="0" y="2191256"/>
                  </a:cubicBezTo>
                  <a:lnTo>
                    <a:pt x="0" y="8944"/>
                  </a:lnTo>
                  <a:cubicBezTo>
                    <a:pt x="0" y="6572"/>
                    <a:pt x="942" y="4297"/>
                    <a:pt x="2620" y="2620"/>
                  </a:cubicBezTo>
                  <a:cubicBezTo>
                    <a:pt x="4297" y="942"/>
                    <a:pt x="6572" y="0"/>
                    <a:pt x="8944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125407" cy="2238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14" id="14"/>
          <p:cNvGraphicFramePr/>
          <p:nvPr/>
        </p:nvGraphicFramePr>
        <p:xfrm>
          <a:off x="1028700" y="1630134"/>
          <a:ext cx="7586157" cy="4274588"/>
        </p:xfrm>
        <a:graphic>
          <a:graphicData uri="http://schemas.openxmlformats.org/presentationml/2006/ole">
            <p:oleObj imgW="9105900" imgH="579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2595101" y="687236"/>
            <a:ext cx="13417592" cy="942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37"/>
              </a:lnSpc>
            </a:pPr>
            <a:r>
              <a:rPr lang="en-US" b="true" sz="792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ts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&amp; 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er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form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</a:t>
            </a:r>
            <a:r>
              <a:rPr lang="en-US" b="true" sz="79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95607" y="1450289"/>
            <a:ext cx="4633214" cy="8009756"/>
            <a:chOff x="0" y="0"/>
            <a:chExt cx="6177619" cy="10679675"/>
          </a:xfrm>
        </p:grpSpPr>
        <p:sp>
          <p:nvSpPr>
            <p:cNvPr name="Freeform 17" id="17"/>
            <p:cNvSpPr/>
            <p:nvPr/>
          </p:nvSpPr>
          <p:spPr>
            <a:xfrm flipH="false" flipV="false" rot="5400000">
              <a:off x="-4330805" y="4330805"/>
              <a:ext cx="10679675" cy="2018066"/>
            </a:xfrm>
            <a:custGeom>
              <a:avLst/>
              <a:gdLst/>
              <a:ahLst/>
              <a:cxnLst/>
              <a:rect r="r" b="b" t="t" l="l"/>
              <a:pathLst>
                <a:path h="2018066" w="10679675">
                  <a:moveTo>
                    <a:pt x="0" y="0"/>
                  </a:moveTo>
                  <a:lnTo>
                    <a:pt x="10679675" y="0"/>
                  </a:lnTo>
                  <a:lnTo>
                    <a:pt x="10679675" y="2018065"/>
                  </a:lnTo>
                  <a:lnTo>
                    <a:pt x="0" y="2018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717344" y="2008184"/>
              <a:ext cx="583377" cy="58337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2F56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 strike="noStrike" u="none">
                    <a:solidFill>
                      <a:srgbClr val="FFFFFF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01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17344" y="4690667"/>
              <a:ext cx="583377" cy="583377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B7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 strike="noStrike" u="none">
                    <a:solidFill>
                      <a:srgbClr val="FFFFFF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02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717344" y="7385497"/>
              <a:ext cx="583377" cy="583377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6A9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 strike="noStrike" u="none">
                    <a:solidFill>
                      <a:srgbClr val="FFFFFF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03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717344" y="10096298"/>
              <a:ext cx="583377" cy="583377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89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 strike="noStrike" u="none">
                    <a:solidFill>
                      <a:srgbClr val="FFFFFF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04</a:t>
                </a: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03505" y="556380"/>
              <a:ext cx="3493421" cy="138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Pure ExtraTrees scores 18.09 RMSE; the 5parameter physic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 model, with no ML, scores 10.76.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503505" y="-38100"/>
              <a:ext cx="3493421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Physics Outp</a:t>
              </a: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erforms ML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503505" y="3264089"/>
              <a:ext cx="3259046" cy="138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Every p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erformance gain came from adding a physical term, never from adding model capacity.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503505" y="2669610"/>
              <a:ext cx="3259046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The Ablati</a:t>
              </a: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on Ladder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503505" y="5971799"/>
              <a:ext cx="3493421" cy="138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Modelling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both reaction enthalpies dropped apparent E₂ from 634 to 242 kJ/mol impossible to defensible.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503505" y="5377319"/>
              <a:ext cx="3259046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</a:t>
              </a: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orrected Kinetics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503505" y="8679508"/>
              <a:ext cx="3259046" cy="138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The 5 parameter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physics beats ML by 3.6× on trimmed RMSE. ML enters only as a shrunk correction.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503505" y="8085029"/>
              <a:ext cx="3674113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Why λ = 0.3</a:t>
              </a: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593287" y="577142"/>
              <a:ext cx="827589" cy="860442"/>
            </a:xfrm>
            <a:custGeom>
              <a:avLst/>
              <a:gdLst/>
              <a:ahLst/>
              <a:cxnLst/>
              <a:rect r="r" b="b" t="t" l="l"/>
              <a:pathLst>
                <a:path h="860442" w="827589">
                  <a:moveTo>
                    <a:pt x="0" y="0"/>
                  </a:moveTo>
                  <a:lnTo>
                    <a:pt x="827588" y="0"/>
                  </a:lnTo>
                  <a:lnTo>
                    <a:pt x="827588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565623" y="3270942"/>
              <a:ext cx="882916" cy="860442"/>
            </a:xfrm>
            <a:custGeom>
              <a:avLst/>
              <a:gdLst/>
              <a:ahLst/>
              <a:cxnLst/>
              <a:rect r="r" b="b" t="t" l="l"/>
              <a:pathLst>
                <a:path h="860442" w="882916">
                  <a:moveTo>
                    <a:pt x="0" y="0"/>
                  </a:moveTo>
                  <a:lnTo>
                    <a:pt x="882916" y="0"/>
                  </a:lnTo>
                  <a:lnTo>
                    <a:pt x="882916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538524" y="5965871"/>
              <a:ext cx="937115" cy="860442"/>
            </a:xfrm>
            <a:custGeom>
              <a:avLst/>
              <a:gdLst/>
              <a:ahLst/>
              <a:cxnLst/>
              <a:rect r="r" b="b" t="t" l="l"/>
              <a:pathLst>
                <a:path h="860442" w="937115">
                  <a:moveTo>
                    <a:pt x="0" y="0"/>
                  </a:moveTo>
                  <a:lnTo>
                    <a:pt x="937115" y="0"/>
                  </a:lnTo>
                  <a:lnTo>
                    <a:pt x="937115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564798" y="8659670"/>
              <a:ext cx="884567" cy="860442"/>
            </a:xfrm>
            <a:custGeom>
              <a:avLst/>
              <a:gdLst/>
              <a:ahLst/>
              <a:cxnLst/>
              <a:rect r="r" b="b" t="t" l="l"/>
              <a:pathLst>
                <a:path h="860442" w="884567">
                  <a:moveTo>
                    <a:pt x="0" y="0"/>
                  </a:moveTo>
                  <a:lnTo>
                    <a:pt x="884566" y="0"/>
                  </a:lnTo>
                  <a:lnTo>
                    <a:pt x="884566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13012" y="1450289"/>
            <a:ext cx="4700737" cy="8009756"/>
            <a:chOff x="0" y="0"/>
            <a:chExt cx="6267649" cy="10679675"/>
          </a:xfrm>
        </p:grpSpPr>
        <p:sp>
          <p:nvSpPr>
            <p:cNvPr name="Freeform 43" id="43"/>
            <p:cNvSpPr/>
            <p:nvPr/>
          </p:nvSpPr>
          <p:spPr>
            <a:xfrm flipH="false" flipV="false" rot="5400000">
              <a:off x="-4330805" y="4330805"/>
              <a:ext cx="10679675" cy="2018066"/>
            </a:xfrm>
            <a:custGeom>
              <a:avLst/>
              <a:gdLst/>
              <a:ahLst/>
              <a:cxnLst/>
              <a:rect r="r" b="b" t="t" l="l"/>
              <a:pathLst>
                <a:path h="2018066" w="10679675">
                  <a:moveTo>
                    <a:pt x="0" y="0"/>
                  </a:moveTo>
                  <a:lnTo>
                    <a:pt x="10679675" y="0"/>
                  </a:lnTo>
                  <a:lnTo>
                    <a:pt x="10679675" y="2018065"/>
                  </a:lnTo>
                  <a:lnTo>
                    <a:pt x="0" y="2018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717344" y="2008184"/>
              <a:ext cx="583377" cy="583377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A6A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 strike="noStrike" u="none">
                    <a:solidFill>
                      <a:srgbClr val="000000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05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717344" y="4690667"/>
              <a:ext cx="583377" cy="583377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C79D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 strike="noStrike" u="none">
                    <a:solidFill>
                      <a:srgbClr val="000000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06</a:t>
                </a: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717344" y="7385497"/>
              <a:ext cx="583377" cy="583377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3E387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>
                    <a:solidFill>
                      <a:srgbClr val="000000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07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717344" y="10096298"/>
              <a:ext cx="583377" cy="583377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CFA70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00"/>
                  </a:lnSpc>
                  <a:spcBef>
                    <a:spcPct val="0"/>
                  </a:spcBef>
                </a:pPr>
                <a:r>
                  <a:rPr lang="en-US" b="true" sz="1500" strike="noStrike" u="none">
                    <a:solidFill>
                      <a:srgbClr val="000000"/>
                    </a:solidFill>
                    <a:latin typeface="TT Hoves Bold"/>
                    <a:ea typeface="TT Hoves Bold"/>
                    <a:cs typeface="TT Hoves Bold"/>
                    <a:sym typeface="TT Hoves Bold"/>
                  </a:rPr>
                  <a:t>08</a:t>
                </a: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2503505" y="556380"/>
              <a:ext cx="3653081" cy="17365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β₁ = −40.8 K, β₂ = +37.4 K: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the feed 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se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lfcools, then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th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 side reaction reheats do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w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nstream.</a:t>
              </a:r>
            </a:p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2503505" y="-38100"/>
              <a:ext cx="3653081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Opp</a:t>
              </a: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osing thermal effects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2503505" y="3264089"/>
              <a:ext cx="3764143" cy="1032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5-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f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old CV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rep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ated over 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eeds, with the physics 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efit in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si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de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eve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y fol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d.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2503505" y="2669610"/>
              <a:ext cx="3764143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L</a:t>
              </a: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eak free validation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2503505" y="5971799"/>
              <a:ext cx="3764143" cy="138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Repr</a:t>
              </a: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oduc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es the int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ior optimum in τ shifting 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shor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ter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wi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h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temperature, and 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the 37 z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oy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ield r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u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ns.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2503505" y="5377319"/>
              <a:ext cx="3764143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P</a:t>
              </a: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hysically consistent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2503505" y="8679508"/>
              <a:ext cx="3764143" cy="1032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0"/>
                </a:lnSpc>
                <a:spcBef>
                  <a:spcPct val="0"/>
                </a:spcBef>
              </a:pPr>
              <a:r>
                <a:rPr lang="en-US" sz="1528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λ i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s wea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k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ly identifi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ed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and 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tun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e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d o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n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 the sc</a:t>
              </a:r>
              <a:r>
                <a:rPr lang="en-US" sz="1528" strike="noStrike" u="none">
                  <a:solidFill>
                    <a:srgbClr val="000000"/>
                  </a:solidFill>
                  <a:latin typeface="TT Hoves"/>
                  <a:ea typeface="TT Hoves"/>
                  <a:cs typeface="TT Hoves"/>
                  <a:sym typeface="TT Hoves"/>
                </a:rPr>
                <a:t>oring CV; E₂ stays apparent, not mechanistic.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2503505" y="8085029"/>
              <a:ext cx="3764143" cy="380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8"/>
                </a:lnSpc>
                <a:spcBef>
                  <a:spcPct val="0"/>
                </a:spcBef>
              </a:pP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Stat</a:t>
              </a:r>
              <a:r>
                <a:rPr lang="en-US" b="true" sz="1720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ed limitations</a:t>
              </a:r>
            </a:p>
          </p:txBody>
        </p:sp>
        <p:sp>
          <p:nvSpPr>
            <p:cNvPr name="Freeform 64" id="64"/>
            <p:cNvSpPr/>
            <p:nvPr/>
          </p:nvSpPr>
          <p:spPr>
            <a:xfrm flipH="false" flipV="false" rot="0">
              <a:off x="624568" y="577142"/>
              <a:ext cx="772833" cy="860442"/>
            </a:xfrm>
            <a:custGeom>
              <a:avLst/>
              <a:gdLst/>
              <a:ahLst/>
              <a:cxnLst/>
              <a:rect r="r" b="b" t="t" l="l"/>
              <a:pathLst>
                <a:path h="860442" w="772833">
                  <a:moveTo>
                    <a:pt x="0" y="0"/>
                  </a:moveTo>
                  <a:lnTo>
                    <a:pt x="772833" y="0"/>
                  </a:lnTo>
                  <a:lnTo>
                    <a:pt x="772833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615181" y="3270942"/>
              <a:ext cx="791607" cy="860442"/>
            </a:xfrm>
            <a:custGeom>
              <a:avLst/>
              <a:gdLst/>
              <a:ahLst/>
              <a:cxnLst/>
              <a:rect r="r" b="b" t="t" l="l"/>
              <a:pathLst>
                <a:path h="860442" w="791607">
                  <a:moveTo>
                    <a:pt x="0" y="0"/>
                  </a:moveTo>
                  <a:lnTo>
                    <a:pt x="791607" y="0"/>
                  </a:lnTo>
                  <a:lnTo>
                    <a:pt x="791607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569527" y="5965871"/>
              <a:ext cx="882916" cy="860442"/>
            </a:xfrm>
            <a:custGeom>
              <a:avLst/>
              <a:gdLst/>
              <a:ahLst/>
              <a:cxnLst/>
              <a:rect r="r" b="b" t="t" l="l"/>
              <a:pathLst>
                <a:path h="860442" w="882916">
                  <a:moveTo>
                    <a:pt x="0" y="0"/>
                  </a:moveTo>
                  <a:lnTo>
                    <a:pt x="882916" y="0"/>
                  </a:lnTo>
                  <a:lnTo>
                    <a:pt x="882916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619875" y="8660235"/>
              <a:ext cx="782220" cy="860442"/>
            </a:xfrm>
            <a:custGeom>
              <a:avLst/>
              <a:gdLst/>
              <a:ahLst/>
              <a:cxnLst/>
              <a:rect r="r" b="b" t="t" l="l"/>
              <a:pathLst>
                <a:path h="860442" w="782220">
                  <a:moveTo>
                    <a:pt x="0" y="0"/>
                  </a:moveTo>
                  <a:lnTo>
                    <a:pt x="782220" y="0"/>
                  </a:lnTo>
                  <a:lnTo>
                    <a:pt x="782220" y="860442"/>
                  </a:lnTo>
                  <a:lnTo>
                    <a:pt x="0" y="860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669337" y="6519089"/>
            <a:ext cx="5450585" cy="3037378"/>
          </a:xfrm>
          <a:custGeom>
            <a:avLst/>
            <a:gdLst/>
            <a:ahLst/>
            <a:cxnLst/>
            <a:rect r="r" b="b" t="t" l="l"/>
            <a:pathLst>
              <a:path h="3037378" w="5450585">
                <a:moveTo>
                  <a:pt x="0" y="0"/>
                </a:moveTo>
                <a:lnTo>
                  <a:pt x="5450585" y="0"/>
                </a:lnTo>
                <a:lnTo>
                  <a:pt x="5450585" y="3037378"/>
                </a:lnTo>
                <a:lnTo>
                  <a:pt x="0" y="303737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-6299" t="-55188" r="-37391" b="-5834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4663110" y="9161060"/>
            <a:ext cx="4633214" cy="29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20"/>
              </a:lnSpc>
              <a:spcBef>
                <a:spcPct val="0"/>
              </a:spcBef>
            </a:pPr>
            <a:r>
              <a:rPr lang="en-US" sz="1728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Leaderboard RMSE: 11.2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47193" y="1030098"/>
            <a:ext cx="16430237" cy="8907177"/>
            <a:chOff x="0" y="0"/>
            <a:chExt cx="3915477" cy="2122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477" cy="2122662"/>
            </a:xfrm>
            <a:custGeom>
              <a:avLst/>
              <a:gdLst/>
              <a:ahLst/>
              <a:cxnLst/>
              <a:rect r="r" b="b" t="t" l="l"/>
              <a:pathLst>
                <a:path h="2122662" w="3915477">
                  <a:moveTo>
                    <a:pt x="9424" y="0"/>
                  </a:moveTo>
                  <a:lnTo>
                    <a:pt x="3906053" y="0"/>
                  </a:lnTo>
                  <a:cubicBezTo>
                    <a:pt x="3911258" y="0"/>
                    <a:pt x="3915477" y="4219"/>
                    <a:pt x="3915477" y="9424"/>
                  </a:cubicBezTo>
                  <a:lnTo>
                    <a:pt x="3915477" y="2113238"/>
                  </a:lnTo>
                  <a:cubicBezTo>
                    <a:pt x="3915477" y="2115738"/>
                    <a:pt x="3914484" y="2118135"/>
                    <a:pt x="3912717" y="2119902"/>
                  </a:cubicBezTo>
                  <a:cubicBezTo>
                    <a:pt x="3910949" y="2121669"/>
                    <a:pt x="3908552" y="2122662"/>
                    <a:pt x="3906053" y="2122662"/>
                  </a:cubicBezTo>
                  <a:lnTo>
                    <a:pt x="9424" y="2122662"/>
                  </a:lnTo>
                  <a:cubicBezTo>
                    <a:pt x="4219" y="2122662"/>
                    <a:pt x="0" y="2118443"/>
                    <a:pt x="0" y="2113238"/>
                  </a:cubicBezTo>
                  <a:lnTo>
                    <a:pt x="0" y="9424"/>
                  </a:lnTo>
                  <a:cubicBezTo>
                    <a:pt x="0" y="6925"/>
                    <a:pt x="993" y="4528"/>
                    <a:pt x="2760" y="2760"/>
                  </a:cubicBezTo>
                  <a:cubicBezTo>
                    <a:pt x="4528" y="993"/>
                    <a:pt x="6925" y="0"/>
                    <a:pt x="9424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15477" cy="2160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8321" y="389288"/>
            <a:ext cx="17311151" cy="9232546"/>
            <a:chOff x="0" y="0"/>
            <a:chExt cx="4125407" cy="22002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25406" cy="2200201"/>
            </a:xfrm>
            <a:custGeom>
              <a:avLst/>
              <a:gdLst/>
              <a:ahLst/>
              <a:cxnLst/>
              <a:rect r="r" b="b" t="t" l="l"/>
              <a:pathLst>
                <a:path h="2200201" w="4125406">
                  <a:moveTo>
                    <a:pt x="8944" y="0"/>
                  </a:moveTo>
                  <a:lnTo>
                    <a:pt x="4116462" y="0"/>
                  </a:lnTo>
                  <a:cubicBezTo>
                    <a:pt x="4118834" y="0"/>
                    <a:pt x="4121109" y="942"/>
                    <a:pt x="4122787" y="2620"/>
                  </a:cubicBezTo>
                  <a:cubicBezTo>
                    <a:pt x="4124464" y="4297"/>
                    <a:pt x="4125406" y="6572"/>
                    <a:pt x="4125406" y="8944"/>
                  </a:cubicBezTo>
                  <a:lnTo>
                    <a:pt x="4125406" y="2191256"/>
                  </a:lnTo>
                  <a:cubicBezTo>
                    <a:pt x="4125406" y="2193629"/>
                    <a:pt x="4124464" y="2195904"/>
                    <a:pt x="4122787" y="2197581"/>
                  </a:cubicBezTo>
                  <a:cubicBezTo>
                    <a:pt x="4121109" y="2199258"/>
                    <a:pt x="4118834" y="2200201"/>
                    <a:pt x="4116462" y="2200201"/>
                  </a:cubicBezTo>
                  <a:lnTo>
                    <a:pt x="8944" y="2200201"/>
                  </a:lnTo>
                  <a:cubicBezTo>
                    <a:pt x="6572" y="2200201"/>
                    <a:pt x="4297" y="2199258"/>
                    <a:pt x="2620" y="2197581"/>
                  </a:cubicBezTo>
                  <a:cubicBezTo>
                    <a:pt x="942" y="2195904"/>
                    <a:pt x="0" y="2193629"/>
                    <a:pt x="0" y="2191256"/>
                  </a:cubicBezTo>
                  <a:lnTo>
                    <a:pt x="0" y="8944"/>
                  </a:lnTo>
                  <a:cubicBezTo>
                    <a:pt x="0" y="6572"/>
                    <a:pt x="942" y="4297"/>
                    <a:pt x="2620" y="2620"/>
                  </a:cubicBezTo>
                  <a:cubicBezTo>
                    <a:pt x="4297" y="942"/>
                    <a:pt x="6572" y="0"/>
                    <a:pt x="8944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125407" cy="2238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29114" y="786293"/>
            <a:ext cx="10657065" cy="7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7"/>
              </a:lnSpc>
            </a:pPr>
            <a:r>
              <a:rPr lang="en-US" b="true" sz="612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Failu</a:t>
            </a:r>
            <a:r>
              <a:rPr lang="en-US" b="true" sz="6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Analysis &amp; Limitat</a:t>
            </a:r>
            <a:r>
              <a:rPr lang="en-US" b="true" sz="6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</a:t>
            </a:r>
            <a:r>
              <a:rPr lang="en-US" b="true" sz="6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b="true" sz="6126" strike="noStrike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9821" y="1696839"/>
            <a:ext cx="9179847" cy="6355621"/>
            <a:chOff x="0" y="0"/>
            <a:chExt cx="12239796" cy="84741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17103" cy="8474162"/>
            </a:xfrm>
            <a:custGeom>
              <a:avLst/>
              <a:gdLst/>
              <a:ahLst/>
              <a:cxnLst/>
              <a:rect r="r" b="b" t="t" l="l"/>
              <a:pathLst>
                <a:path h="8474162" w="6317103">
                  <a:moveTo>
                    <a:pt x="0" y="0"/>
                  </a:moveTo>
                  <a:lnTo>
                    <a:pt x="6317103" y="0"/>
                  </a:lnTo>
                  <a:lnTo>
                    <a:pt x="6317103" y="8474162"/>
                  </a:lnTo>
                  <a:lnTo>
                    <a:pt x="0" y="8474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799636" y="320983"/>
              <a:ext cx="2668425" cy="1188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7"/>
                </a:lnSpc>
                <a:spcBef>
                  <a:spcPct val="0"/>
                </a:spcBef>
              </a:pPr>
              <a:r>
                <a:rPr lang="en-US" b="true" sz="537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412200" y="2439184"/>
              <a:ext cx="2668425" cy="1188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7"/>
                </a:lnSpc>
                <a:spcBef>
                  <a:spcPct val="0"/>
                </a:spcBef>
              </a:pPr>
              <a:r>
                <a:rPr lang="en-US" b="true" sz="537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024763" y="4654830"/>
              <a:ext cx="2668425" cy="1188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7"/>
                </a:lnSpc>
                <a:spcBef>
                  <a:spcPct val="0"/>
                </a:spcBef>
              </a:pPr>
              <a:r>
                <a:rPr lang="en-US" b="true" sz="537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637326" y="6876878"/>
              <a:ext cx="2668425" cy="1188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27"/>
                </a:lnSpc>
                <a:spcBef>
                  <a:spcPct val="0"/>
                </a:spcBef>
              </a:pPr>
              <a:r>
                <a:rPr lang="en-US" b="true" sz="537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881936" y="6715427"/>
              <a:ext cx="5357860" cy="448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2"/>
                </a:lnSpc>
                <a:spcBef>
                  <a:spcPct val="0"/>
                </a:spcBef>
              </a:pP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</a:t>
              </a: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erating near the cliff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297069" y="4511399"/>
              <a:ext cx="5357860" cy="448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2"/>
                </a:lnSpc>
                <a:spcBef>
                  <a:spcPct val="0"/>
                </a:spcBef>
              </a:pP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</a:t>
              </a: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ed or flow change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881936" y="7202223"/>
              <a:ext cx="4772993" cy="1215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9"/>
                </a:lnSpc>
                <a:spcBef>
                  <a:spcPct val="0"/>
                </a:spcBef>
              </a:pP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Abov</a:t>
              </a: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 ~460 K yield collapses steeply; small temperature errors become large prediction errors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297069" y="4993215"/>
              <a:ext cx="5037127" cy="1215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9"/>
                </a:lnSpc>
                <a:spcBef>
                  <a:spcPct val="0"/>
                </a:spcBef>
              </a:pP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Ine</a:t>
              </a: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rts, cofeeds, or laminar flow break the firstorder and idealplugflow assumptions.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585786" y="2381106"/>
              <a:ext cx="5357860" cy="448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2"/>
                </a:lnSpc>
                <a:spcBef>
                  <a:spcPct val="0"/>
                </a:spcBef>
              </a:pP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Jack</a:t>
              </a: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et fouling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585786" y="2791794"/>
              <a:ext cx="5037127" cy="1215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9"/>
                </a:lnSpc>
                <a:spcBef>
                  <a:spcPct val="0"/>
                </a:spcBef>
              </a:pP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</a:t>
              </a: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eat transfer h degrades, shifting the thermal switch and moving the optimal residence time.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874503" y="177551"/>
              <a:ext cx="5357860" cy="4487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22"/>
                </a:lnSpc>
                <a:spcBef>
                  <a:spcPct val="0"/>
                </a:spcBef>
              </a:pP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Catalyst deactivati</a:t>
              </a:r>
              <a:r>
                <a:rPr lang="en-US" b="true" sz="2016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874503" y="658894"/>
              <a:ext cx="4395660" cy="1215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9"/>
                </a:lnSpc>
                <a:spcBef>
                  <a:spcPct val="0"/>
                </a:spcBef>
              </a:pP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Ac</a:t>
              </a:r>
              <a:r>
                <a:rPr lang="en-US" sz="1792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tivity k₁ falls over time; the model assumes it constant and overpredicts yield.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62312" y="1751932"/>
            <a:ext cx="9206135" cy="6497132"/>
            <a:chOff x="0" y="0"/>
            <a:chExt cx="12274847" cy="86628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00540" cy="8586090"/>
            </a:xfrm>
            <a:custGeom>
              <a:avLst/>
              <a:gdLst/>
              <a:ahLst/>
              <a:cxnLst/>
              <a:rect r="r" b="b" t="t" l="l"/>
              <a:pathLst>
                <a:path h="8586090" w="6400540">
                  <a:moveTo>
                    <a:pt x="0" y="0"/>
                  </a:moveTo>
                  <a:lnTo>
                    <a:pt x="6400540" y="0"/>
                  </a:lnTo>
                  <a:lnTo>
                    <a:pt x="6400540" y="8586090"/>
                  </a:lnTo>
                  <a:lnTo>
                    <a:pt x="0" y="8586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917454" y="326607"/>
              <a:ext cx="2703670" cy="120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6"/>
                </a:lnSpc>
                <a:spcBef>
                  <a:spcPct val="0"/>
                </a:spcBef>
              </a:pPr>
              <a:r>
                <a:rPr lang="en-US" b="true" sz="5447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38108" y="2472785"/>
              <a:ext cx="2703670" cy="120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6"/>
                </a:lnSpc>
                <a:spcBef>
                  <a:spcPct val="0"/>
                </a:spcBef>
              </a:pPr>
              <a:r>
                <a:rPr lang="en-US" b="true" sz="5447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158762" y="4717696"/>
              <a:ext cx="2703670" cy="120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6"/>
                </a:lnSpc>
                <a:spcBef>
                  <a:spcPct val="0"/>
                </a:spcBef>
              </a:pPr>
              <a:r>
                <a:rPr lang="en-US" b="true" sz="5447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779416" y="6969093"/>
              <a:ext cx="2703670" cy="1203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626"/>
                </a:lnSpc>
                <a:spcBef>
                  <a:spcPct val="0"/>
                </a:spcBef>
              </a:pPr>
              <a:r>
                <a:rPr lang="en-US" b="true" sz="5447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08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6846219" y="6607806"/>
              <a:ext cx="5428628" cy="444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  <a:spcBef>
                  <a:spcPct val="0"/>
                </a:spcBef>
              </a:pPr>
              <a:r>
                <a:rPr lang="en-US" b="true" sz="204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nmo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dell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ed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rallel path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380241" y="4581140"/>
              <a:ext cx="5428628" cy="444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  <a:spcBef>
                  <a:spcPct val="0"/>
                </a:spcBef>
              </a:pPr>
              <a:r>
                <a:rPr lang="en-US" b="true" sz="204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Diagno</a:t>
              </a:r>
              <a:r>
                <a:rPr lang="en-US" b="true" sz="204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sing the source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846219" y="7023793"/>
              <a:ext cx="5428628" cy="1639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2"/>
                </a:lnSpc>
                <a:spcBef>
                  <a:spcPct val="0"/>
                </a:spcBef>
              </a:pP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</a:t>
              </a: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he brief calls the network series-parallel; we modelled A→B→C. A genuine A→C route would show as a systematic offset.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380241" y="5083609"/>
              <a:ext cx="5428628" cy="1221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2"/>
                </a:lnSpc>
                <a:spcBef>
                  <a:spcPct val="0"/>
                </a:spcBef>
              </a:pP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Refit </a:t>
              </a: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online and see which constant moves: h means fouling, k₁ means deactivation, offset means sensors.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659564" y="2422710"/>
              <a:ext cx="5428628" cy="444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  <a:spcBef>
                  <a:spcPct val="0"/>
                </a:spcBef>
              </a:pPr>
              <a:r>
                <a:rPr lang="en-US" b="true" sz="204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</a:t>
              </a:r>
              <a:r>
                <a:rPr lang="en-US" b="true" sz="204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eakly identified parameters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659564" y="2931305"/>
              <a:ext cx="5428628" cy="1221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2"/>
                </a:lnSpc>
                <a:spcBef>
                  <a:spcPct val="0"/>
                </a:spcBef>
              </a:pP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R</a:t>
              </a: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eaction order's interval is [0.87, 1.91]; a residual correlation with Q·C₀ survives at r ≈ 0.22.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938886" y="190051"/>
              <a:ext cx="5428628" cy="444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  <a:spcBef>
                  <a:spcPct val="0"/>
                </a:spcBef>
              </a:pPr>
              <a:r>
                <a:rPr lang="en-US" b="true" sz="2042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Extrap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imi</a:t>
              </a:r>
              <a:r>
                <a:rPr lang="en-US" b="true" sz="2042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ts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938886" y="606038"/>
              <a:ext cx="5428628" cy="12210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2"/>
                </a:lnSpc>
                <a:spcBef>
                  <a:spcPct val="0"/>
                </a:spcBef>
              </a:pP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Physi</a:t>
              </a:r>
              <a:r>
                <a:rPr lang="en-US" sz="1815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cs stays valid outside the training box; the tree residual term flattens and misleads.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7031766" y="8629650"/>
            <a:ext cx="4544262" cy="7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7"/>
              </a:lnSpc>
            </a:pPr>
            <a:r>
              <a:rPr lang="en-US" b="true" sz="612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You!!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70435" y="8989659"/>
            <a:ext cx="4898012" cy="40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27"/>
              </a:lnSpc>
            </a:pPr>
            <a:r>
              <a:rPr lang="en-US" sz="332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Team Name : Outliers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DAHTTQh8t5A</dc:identifier>
  <dcterms:modified xsi:type="dcterms:W3CDTF">2011-08-01T06:04:30Z</dcterms:modified>
  <cp:revision>1</cp:revision>
  <dc:title>The Chemical Engineering Problem</dc:title>
</cp:coreProperties>
</file>